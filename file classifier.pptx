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D75B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A2A6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Symbol"/>
                <a:cs typeface="Symbol"/>
              </a:rPr>
              <a:t>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/>
              <a:t>Back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Index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Chandan Kumar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25U020047</a:t>
            </a:r>
            <a:r>
              <a:rPr dirty="0" spc="225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APL Lab</a:t>
            </a:r>
            <a:r>
              <a:rPr dirty="0" spc="5"/>
              <a:t> </a:t>
            </a:r>
            <a:r>
              <a:rPr dirty="0"/>
              <a:t>(CSE-3006)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Group</a:t>
            </a:r>
            <a:r>
              <a:rPr dirty="0" spc="5"/>
              <a:t> </a:t>
            </a:r>
            <a:r>
              <a:rPr dirty="0" spc="-10"/>
              <a:t>Project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 </a:t>
            </a: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of </a:t>
            </a:r>
            <a:r>
              <a:rPr dirty="0" spc="-25"/>
              <a:t>91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D75B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A2A6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Symbol"/>
                <a:cs typeface="Symbol"/>
              </a:rPr>
              <a:t>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/>
              <a:t>Back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Index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Chandan Kumar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25U020047</a:t>
            </a:r>
            <a:r>
              <a:rPr dirty="0" spc="225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APL Lab</a:t>
            </a:r>
            <a:r>
              <a:rPr dirty="0" spc="5"/>
              <a:t> </a:t>
            </a:r>
            <a:r>
              <a:rPr dirty="0"/>
              <a:t>(CSE-3006)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Group</a:t>
            </a:r>
            <a:r>
              <a:rPr dirty="0" spc="5"/>
              <a:t> </a:t>
            </a:r>
            <a:r>
              <a:rPr dirty="0" spc="-10"/>
              <a:t>Project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 </a:t>
            </a: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of </a:t>
            </a:r>
            <a:r>
              <a:rPr dirty="0" spc="-25"/>
              <a:t>91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A2A6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Symbol"/>
                <a:cs typeface="Symbol"/>
              </a:rPr>
              <a:t>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/>
              <a:t>Back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Index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Chandan Kumar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25U020047</a:t>
            </a:r>
            <a:r>
              <a:rPr dirty="0" spc="225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APL Lab</a:t>
            </a:r>
            <a:r>
              <a:rPr dirty="0" spc="5"/>
              <a:t> </a:t>
            </a:r>
            <a:r>
              <a:rPr dirty="0"/>
              <a:t>(CSE-3006)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Group</a:t>
            </a:r>
            <a:r>
              <a:rPr dirty="0" spc="5"/>
              <a:t> </a:t>
            </a:r>
            <a:r>
              <a:rPr dirty="0" spc="-10"/>
              <a:t>Project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 </a:t>
            </a: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of </a:t>
            </a:r>
            <a:r>
              <a:rPr dirty="0" spc="-25"/>
              <a:t>91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A2A6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Symbol"/>
                <a:cs typeface="Symbol"/>
              </a:rPr>
              <a:t>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/>
              <a:t>Back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Index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Chandan Kumar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25U020047</a:t>
            </a:r>
            <a:r>
              <a:rPr dirty="0" spc="225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APL Lab</a:t>
            </a:r>
            <a:r>
              <a:rPr dirty="0" spc="5"/>
              <a:t> </a:t>
            </a:r>
            <a:r>
              <a:rPr dirty="0"/>
              <a:t>(CSE-3006)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Group</a:t>
            </a:r>
            <a:r>
              <a:rPr dirty="0" spc="5"/>
              <a:t> </a:t>
            </a:r>
            <a:r>
              <a:rPr dirty="0" spc="-1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 </a:t>
            </a: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of </a:t>
            </a:r>
            <a:r>
              <a:rPr dirty="0" spc="-25"/>
              <a:t>91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A2A6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Symbol"/>
                <a:cs typeface="Symbol"/>
              </a:rPr>
              <a:t>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/>
              <a:t>Back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Index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Chandan Kumar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25U020047</a:t>
            </a:r>
            <a:r>
              <a:rPr dirty="0" spc="225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APL Lab</a:t>
            </a:r>
            <a:r>
              <a:rPr dirty="0" spc="5"/>
              <a:t> </a:t>
            </a:r>
            <a:r>
              <a:rPr dirty="0"/>
              <a:t>(CSE-3006)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Group</a:t>
            </a:r>
            <a:r>
              <a:rPr dirty="0" spc="5"/>
              <a:t> </a:t>
            </a:r>
            <a:r>
              <a:rPr dirty="0" spc="-10"/>
              <a:t>Project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 </a:t>
            </a: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of </a:t>
            </a:r>
            <a:r>
              <a:rPr dirty="0" spc="-25"/>
              <a:t>91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420065"/>
            <a:ext cx="4241800" cy="483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0219" y="2853944"/>
            <a:ext cx="6138545" cy="224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D75B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708243" y="6590754"/>
            <a:ext cx="775970" cy="150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2A2A6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Symbol"/>
                <a:cs typeface="Symbol"/>
              </a:rPr>
              <a:t>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/>
              <a:t>Back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Index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42900" y="6606672"/>
            <a:ext cx="3086100" cy="13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Chandan Kumar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25U020047</a:t>
            </a:r>
            <a:r>
              <a:rPr dirty="0" spc="225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APL Lab</a:t>
            </a:r>
            <a:r>
              <a:rPr dirty="0" spc="5"/>
              <a:t> </a:t>
            </a:r>
            <a:r>
              <a:rPr dirty="0"/>
              <a:t>(CSE-3006)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Group</a:t>
            </a:r>
            <a:r>
              <a:rPr dirty="0" spc="5"/>
              <a:t> </a:t>
            </a:r>
            <a:r>
              <a:rPr dirty="0" spc="-10"/>
              <a:t>Project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230578" y="6606672"/>
            <a:ext cx="619125" cy="13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 </a:t>
            </a: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of </a:t>
            </a:r>
            <a:r>
              <a:rPr dirty="0" spc="-25"/>
              <a:t>91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6277" y="1325956"/>
            <a:ext cx="5683885" cy="13665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4400"/>
              <a:t>File</a:t>
            </a:r>
            <a:r>
              <a:rPr dirty="0" sz="4400" spc="-95"/>
              <a:t> </a:t>
            </a:r>
            <a:r>
              <a:rPr dirty="0" sz="4400"/>
              <a:t>Type</a:t>
            </a:r>
            <a:r>
              <a:rPr dirty="0" sz="4400" spc="-95"/>
              <a:t> </a:t>
            </a:r>
            <a:r>
              <a:rPr dirty="0" sz="4400"/>
              <a:t>Classifier</a:t>
            </a:r>
            <a:r>
              <a:rPr dirty="0" sz="4400" spc="-95"/>
              <a:t> </a:t>
            </a:r>
            <a:r>
              <a:rPr dirty="0" sz="4400" spc="-10"/>
              <a:t>Using </a:t>
            </a:r>
            <a:r>
              <a:rPr dirty="0" sz="4400" spc="-40"/>
              <a:t>Byte-</a:t>
            </a:r>
            <a:r>
              <a:rPr dirty="0" sz="4400"/>
              <a:t>Level</a:t>
            </a:r>
            <a:r>
              <a:rPr dirty="0" sz="4400" spc="-60"/>
              <a:t> </a:t>
            </a:r>
            <a:r>
              <a:rPr dirty="0" sz="4400"/>
              <a:t>ML</a:t>
            </a:r>
            <a:r>
              <a:rPr dirty="0" sz="4400" spc="-65"/>
              <a:t> </a:t>
            </a:r>
            <a:r>
              <a:rPr dirty="0" sz="4400" spc="-10"/>
              <a:t>Feature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90"/>
              </a:spcBef>
            </a:pPr>
            <a:r>
              <a:rPr dirty="0"/>
              <a:t>Identifying</a:t>
            </a:r>
            <a:r>
              <a:rPr dirty="0" spc="-40"/>
              <a:t> </a:t>
            </a:r>
            <a:r>
              <a:rPr dirty="0"/>
              <a:t>JPG,</a:t>
            </a:r>
            <a:r>
              <a:rPr dirty="0" spc="-25"/>
              <a:t> </a:t>
            </a:r>
            <a:r>
              <a:rPr dirty="0" spc="-50"/>
              <a:t>PDF,</a:t>
            </a:r>
            <a:r>
              <a:rPr dirty="0" spc="-55"/>
              <a:t> </a:t>
            </a:r>
            <a:r>
              <a:rPr dirty="0"/>
              <a:t>PNG,</a:t>
            </a:r>
            <a:r>
              <a:rPr dirty="0" spc="-55"/>
              <a:t> </a:t>
            </a:r>
            <a:r>
              <a:rPr dirty="0"/>
              <a:t>TXT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/>
              <a:t>GIF</a:t>
            </a:r>
            <a:r>
              <a:rPr dirty="0" spc="-60"/>
              <a:t> </a:t>
            </a:r>
            <a:r>
              <a:rPr dirty="0"/>
              <a:t>files from</a:t>
            </a:r>
            <a:r>
              <a:rPr dirty="0" spc="-65"/>
              <a:t> </a:t>
            </a:r>
            <a:r>
              <a:rPr dirty="0"/>
              <a:t>their</a:t>
            </a:r>
            <a:r>
              <a:rPr dirty="0" spc="-35"/>
              <a:t> </a:t>
            </a:r>
            <a:r>
              <a:rPr dirty="0" spc="-25"/>
              <a:t>raw</a:t>
            </a:r>
          </a:p>
          <a:p>
            <a:pPr marL="149860">
              <a:lnSpc>
                <a:spcPct val="100000"/>
              </a:lnSpc>
            </a:pPr>
            <a:r>
              <a:rPr dirty="0" spc="-10"/>
              <a:t>bytes</a:t>
            </a:r>
          </a:p>
          <a:p>
            <a:pPr>
              <a:lnSpc>
                <a:spcPct val="100000"/>
              </a:lnSpc>
              <a:spcBef>
                <a:spcPts val="1535"/>
              </a:spcBef>
            </a:pPr>
          </a:p>
          <a:p>
            <a:pPr marL="149860">
              <a:lnSpc>
                <a:spcPct val="100000"/>
              </a:lnSpc>
            </a:pPr>
            <a:r>
              <a:rPr dirty="0" sz="1600" b="1">
                <a:solidFill>
                  <a:srgbClr val="585858"/>
                </a:solidFill>
                <a:latin typeface="Calibri"/>
                <a:cs typeface="Calibri"/>
              </a:rPr>
              <a:t>Advanced</a:t>
            </a:r>
            <a:r>
              <a:rPr dirty="0" sz="1600" spc="-30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85858"/>
                </a:solidFill>
                <a:latin typeface="Calibri"/>
                <a:cs typeface="Calibri"/>
              </a:rPr>
              <a:t>Python</a:t>
            </a:r>
            <a:r>
              <a:rPr dirty="0" sz="1600" spc="-2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585858"/>
                </a:solidFill>
                <a:latin typeface="Calibri"/>
                <a:cs typeface="Calibri"/>
              </a:rPr>
              <a:t>Programming</a:t>
            </a:r>
            <a:r>
              <a:rPr dirty="0" sz="1600" spc="-70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5" b="1">
                <a:solidFill>
                  <a:srgbClr val="585858"/>
                </a:solidFill>
                <a:latin typeface="Calibri"/>
                <a:cs typeface="Calibri"/>
              </a:rPr>
              <a:t>Lab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  <a:tabLst>
                <a:tab pos="1365885" algn="l"/>
              </a:tabLst>
            </a:pPr>
            <a:r>
              <a:rPr dirty="0" sz="1400" b="1">
                <a:solidFill>
                  <a:srgbClr val="585858"/>
                </a:solidFill>
                <a:latin typeface="Calibri"/>
                <a:cs typeface="Calibri"/>
              </a:rPr>
              <a:t>Group</a:t>
            </a:r>
            <a:r>
              <a:rPr dirty="0" sz="1400" spc="-30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85858"/>
                </a:solidFill>
                <a:latin typeface="Calibri"/>
                <a:cs typeface="Calibri"/>
              </a:rPr>
              <a:t>No.:</a:t>
            </a:r>
            <a:r>
              <a:rPr dirty="0" sz="1400" spc="-30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585858"/>
                </a:solidFill>
                <a:latin typeface="Calibri"/>
                <a:cs typeface="Calibri"/>
              </a:rPr>
              <a:t>03</a:t>
            </a:r>
            <a:r>
              <a:rPr dirty="0" sz="1400" b="1">
                <a:solidFill>
                  <a:srgbClr val="585858"/>
                </a:solidFill>
                <a:latin typeface="Calibri"/>
                <a:cs typeface="Calibri"/>
              </a:rPr>
              <a:t>	Members:</a:t>
            </a:r>
            <a:r>
              <a:rPr dirty="0" sz="14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85858"/>
                </a:solidFill>
                <a:latin typeface="Calibri"/>
                <a:cs typeface="Calibri"/>
              </a:rPr>
              <a:t>Chandan</a:t>
            </a:r>
            <a:r>
              <a:rPr dirty="0" sz="1400" spc="-4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30" b="1">
                <a:solidFill>
                  <a:srgbClr val="585858"/>
                </a:solidFill>
                <a:latin typeface="Calibri"/>
                <a:cs typeface="Calibri"/>
              </a:rPr>
              <a:t>Kumar,</a:t>
            </a:r>
            <a:r>
              <a:rPr dirty="0" sz="1400" spc="-90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85858"/>
                </a:solidFill>
                <a:latin typeface="Calibri"/>
                <a:cs typeface="Calibri"/>
              </a:rPr>
              <a:t>Nityaraj Rathod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400">
              <a:latin typeface="Calibri"/>
              <a:cs typeface="Calibri"/>
            </a:endParaRPr>
          </a:p>
          <a:p>
            <a:pPr marL="149860">
              <a:lnSpc>
                <a:spcPct val="100000"/>
              </a:lnSpc>
            </a:pPr>
            <a:r>
              <a:rPr dirty="0" sz="1400" b="1">
                <a:solidFill>
                  <a:srgbClr val="585858"/>
                </a:solidFill>
                <a:latin typeface="Calibri"/>
                <a:cs typeface="Calibri"/>
              </a:rPr>
              <a:t>Date:</a:t>
            </a:r>
            <a:r>
              <a:rPr dirty="0" sz="1400" spc="-70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85858"/>
                </a:solidFill>
                <a:latin typeface="Calibri"/>
                <a:cs typeface="Calibri"/>
              </a:rPr>
              <a:t>30-10-</a:t>
            </a:r>
            <a:r>
              <a:rPr dirty="0" sz="1400" spc="-20" b="1">
                <a:solidFill>
                  <a:srgbClr val="585858"/>
                </a:solidFill>
                <a:latin typeface="Calibri"/>
                <a:cs typeface="Calibri"/>
              </a:rPr>
              <a:t>2026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863840" y="822960"/>
            <a:ext cx="3749040" cy="5212080"/>
            <a:chOff x="7863840" y="822960"/>
            <a:chExt cx="3749040" cy="5212080"/>
          </a:xfrm>
        </p:grpSpPr>
        <p:sp>
          <p:nvSpPr>
            <p:cNvPr id="5" name="object 5"/>
            <p:cNvSpPr/>
            <p:nvPr/>
          </p:nvSpPr>
          <p:spPr>
            <a:xfrm>
              <a:off x="7863840" y="822960"/>
              <a:ext cx="3749040" cy="5212080"/>
            </a:xfrm>
            <a:custGeom>
              <a:avLst/>
              <a:gdLst/>
              <a:ahLst/>
              <a:cxnLst/>
              <a:rect l="l" t="t" r="r" b="b"/>
              <a:pathLst>
                <a:path w="3749040" h="5212080">
                  <a:moveTo>
                    <a:pt x="3749040" y="0"/>
                  </a:moveTo>
                  <a:lnTo>
                    <a:pt x="0" y="0"/>
                  </a:lnTo>
                  <a:lnTo>
                    <a:pt x="0" y="5212080"/>
                  </a:lnTo>
                  <a:lnTo>
                    <a:pt x="3749040" y="5212080"/>
                  </a:lnTo>
                  <a:lnTo>
                    <a:pt x="374904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322564" y="1144524"/>
              <a:ext cx="2834640" cy="731520"/>
            </a:xfrm>
            <a:custGeom>
              <a:avLst/>
              <a:gdLst/>
              <a:ahLst/>
              <a:cxnLst/>
              <a:rect l="l" t="t" r="r" b="b"/>
              <a:pathLst>
                <a:path w="2834640" h="731519">
                  <a:moveTo>
                    <a:pt x="2724911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621791"/>
                  </a:lnTo>
                  <a:lnTo>
                    <a:pt x="8626" y="664493"/>
                  </a:lnTo>
                  <a:lnTo>
                    <a:pt x="32146" y="699373"/>
                  </a:lnTo>
                  <a:lnTo>
                    <a:pt x="67026" y="722893"/>
                  </a:lnTo>
                  <a:lnTo>
                    <a:pt x="109727" y="731520"/>
                  </a:lnTo>
                  <a:lnTo>
                    <a:pt x="2724911" y="731520"/>
                  </a:lnTo>
                  <a:lnTo>
                    <a:pt x="2767613" y="722893"/>
                  </a:lnTo>
                  <a:lnTo>
                    <a:pt x="2802493" y="699373"/>
                  </a:lnTo>
                  <a:lnTo>
                    <a:pt x="2826013" y="664493"/>
                  </a:lnTo>
                  <a:lnTo>
                    <a:pt x="2834639" y="621791"/>
                  </a:lnTo>
                  <a:lnTo>
                    <a:pt x="2834639" y="109727"/>
                  </a:lnTo>
                  <a:lnTo>
                    <a:pt x="2826013" y="67026"/>
                  </a:lnTo>
                  <a:lnTo>
                    <a:pt x="2802493" y="32146"/>
                  </a:lnTo>
                  <a:lnTo>
                    <a:pt x="2767613" y="8626"/>
                  </a:lnTo>
                  <a:lnTo>
                    <a:pt x="2724911" y="0"/>
                  </a:lnTo>
                  <a:close/>
                </a:path>
              </a:pathLst>
            </a:custGeom>
            <a:solidFill>
              <a:srgbClr val="2B49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322564" y="1144524"/>
              <a:ext cx="2834640" cy="731520"/>
            </a:xfrm>
            <a:custGeom>
              <a:avLst/>
              <a:gdLst/>
              <a:ahLst/>
              <a:cxnLst/>
              <a:rect l="l" t="t" r="r" b="b"/>
              <a:pathLst>
                <a:path w="2834640" h="731519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2724911" y="0"/>
                  </a:lnTo>
                  <a:lnTo>
                    <a:pt x="2767613" y="8626"/>
                  </a:lnTo>
                  <a:lnTo>
                    <a:pt x="2802493" y="32146"/>
                  </a:lnTo>
                  <a:lnTo>
                    <a:pt x="2826013" y="67026"/>
                  </a:lnTo>
                  <a:lnTo>
                    <a:pt x="2834639" y="109727"/>
                  </a:lnTo>
                  <a:lnTo>
                    <a:pt x="2834639" y="621791"/>
                  </a:lnTo>
                  <a:lnTo>
                    <a:pt x="2826013" y="664493"/>
                  </a:lnTo>
                  <a:lnTo>
                    <a:pt x="2802493" y="699373"/>
                  </a:lnTo>
                  <a:lnTo>
                    <a:pt x="2767613" y="722893"/>
                  </a:lnTo>
                  <a:lnTo>
                    <a:pt x="2724911" y="731520"/>
                  </a:lnTo>
                  <a:lnTo>
                    <a:pt x="109727" y="731520"/>
                  </a:lnTo>
                  <a:lnTo>
                    <a:pt x="67026" y="722893"/>
                  </a:lnTo>
                  <a:lnTo>
                    <a:pt x="32146" y="699373"/>
                  </a:lnTo>
                  <a:lnTo>
                    <a:pt x="8626" y="664493"/>
                  </a:lnTo>
                  <a:lnTo>
                    <a:pt x="0" y="621791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5B8F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322564" y="2077212"/>
              <a:ext cx="2834640" cy="731520"/>
            </a:xfrm>
            <a:custGeom>
              <a:avLst/>
              <a:gdLst/>
              <a:ahLst/>
              <a:cxnLst/>
              <a:rect l="l" t="t" r="r" b="b"/>
              <a:pathLst>
                <a:path w="2834640" h="731519">
                  <a:moveTo>
                    <a:pt x="2724911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621791"/>
                  </a:lnTo>
                  <a:lnTo>
                    <a:pt x="8626" y="664493"/>
                  </a:lnTo>
                  <a:lnTo>
                    <a:pt x="32146" y="699373"/>
                  </a:lnTo>
                  <a:lnTo>
                    <a:pt x="67026" y="722893"/>
                  </a:lnTo>
                  <a:lnTo>
                    <a:pt x="109727" y="731520"/>
                  </a:lnTo>
                  <a:lnTo>
                    <a:pt x="2724911" y="731520"/>
                  </a:lnTo>
                  <a:lnTo>
                    <a:pt x="2767613" y="722893"/>
                  </a:lnTo>
                  <a:lnTo>
                    <a:pt x="2802493" y="699373"/>
                  </a:lnTo>
                  <a:lnTo>
                    <a:pt x="2826013" y="664493"/>
                  </a:lnTo>
                  <a:lnTo>
                    <a:pt x="2834639" y="621791"/>
                  </a:lnTo>
                  <a:lnTo>
                    <a:pt x="2834639" y="109727"/>
                  </a:lnTo>
                  <a:lnTo>
                    <a:pt x="2826013" y="67026"/>
                  </a:lnTo>
                  <a:lnTo>
                    <a:pt x="2802493" y="32146"/>
                  </a:lnTo>
                  <a:lnTo>
                    <a:pt x="2767613" y="8626"/>
                  </a:lnTo>
                  <a:lnTo>
                    <a:pt x="2724911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322564" y="2077212"/>
              <a:ext cx="2834640" cy="731520"/>
            </a:xfrm>
            <a:custGeom>
              <a:avLst/>
              <a:gdLst/>
              <a:ahLst/>
              <a:cxnLst/>
              <a:rect l="l" t="t" r="r" b="b"/>
              <a:pathLst>
                <a:path w="2834640" h="731519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2724911" y="0"/>
                  </a:lnTo>
                  <a:lnTo>
                    <a:pt x="2767613" y="8626"/>
                  </a:lnTo>
                  <a:lnTo>
                    <a:pt x="2802493" y="32146"/>
                  </a:lnTo>
                  <a:lnTo>
                    <a:pt x="2826013" y="67026"/>
                  </a:lnTo>
                  <a:lnTo>
                    <a:pt x="2834639" y="109727"/>
                  </a:lnTo>
                  <a:lnTo>
                    <a:pt x="2834639" y="621791"/>
                  </a:lnTo>
                  <a:lnTo>
                    <a:pt x="2826013" y="664493"/>
                  </a:lnTo>
                  <a:lnTo>
                    <a:pt x="2802493" y="699373"/>
                  </a:lnTo>
                  <a:lnTo>
                    <a:pt x="2767613" y="722893"/>
                  </a:lnTo>
                  <a:lnTo>
                    <a:pt x="2724911" y="731520"/>
                  </a:lnTo>
                  <a:lnTo>
                    <a:pt x="109727" y="731520"/>
                  </a:lnTo>
                  <a:lnTo>
                    <a:pt x="67026" y="722893"/>
                  </a:lnTo>
                  <a:lnTo>
                    <a:pt x="32146" y="699373"/>
                  </a:lnTo>
                  <a:lnTo>
                    <a:pt x="8626" y="664493"/>
                  </a:lnTo>
                  <a:lnTo>
                    <a:pt x="0" y="621791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5B8F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322564" y="3009900"/>
              <a:ext cx="2834640" cy="731520"/>
            </a:xfrm>
            <a:custGeom>
              <a:avLst/>
              <a:gdLst/>
              <a:ahLst/>
              <a:cxnLst/>
              <a:rect l="l" t="t" r="r" b="b"/>
              <a:pathLst>
                <a:path w="2834640" h="731520">
                  <a:moveTo>
                    <a:pt x="2724911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621792"/>
                  </a:lnTo>
                  <a:lnTo>
                    <a:pt x="8626" y="664493"/>
                  </a:lnTo>
                  <a:lnTo>
                    <a:pt x="32146" y="699373"/>
                  </a:lnTo>
                  <a:lnTo>
                    <a:pt x="67026" y="722893"/>
                  </a:lnTo>
                  <a:lnTo>
                    <a:pt x="109727" y="731519"/>
                  </a:lnTo>
                  <a:lnTo>
                    <a:pt x="2724911" y="731519"/>
                  </a:lnTo>
                  <a:lnTo>
                    <a:pt x="2767613" y="722893"/>
                  </a:lnTo>
                  <a:lnTo>
                    <a:pt x="2802493" y="699373"/>
                  </a:lnTo>
                  <a:lnTo>
                    <a:pt x="2826013" y="664493"/>
                  </a:lnTo>
                  <a:lnTo>
                    <a:pt x="2834639" y="621792"/>
                  </a:lnTo>
                  <a:lnTo>
                    <a:pt x="2834639" y="109727"/>
                  </a:lnTo>
                  <a:lnTo>
                    <a:pt x="2826013" y="67026"/>
                  </a:lnTo>
                  <a:lnTo>
                    <a:pt x="2802493" y="32146"/>
                  </a:lnTo>
                  <a:lnTo>
                    <a:pt x="2767613" y="8626"/>
                  </a:lnTo>
                  <a:lnTo>
                    <a:pt x="2724911" y="0"/>
                  </a:lnTo>
                  <a:close/>
                </a:path>
              </a:pathLst>
            </a:custGeom>
            <a:solidFill>
              <a:srgbClr val="2B49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322564" y="3009900"/>
              <a:ext cx="2834640" cy="731520"/>
            </a:xfrm>
            <a:custGeom>
              <a:avLst/>
              <a:gdLst/>
              <a:ahLst/>
              <a:cxnLst/>
              <a:rect l="l" t="t" r="r" b="b"/>
              <a:pathLst>
                <a:path w="2834640" h="73152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2724911" y="0"/>
                  </a:lnTo>
                  <a:lnTo>
                    <a:pt x="2767613" y="8626"/>
                  </a:lnTo>
                  <a:lnTo>
                    <a:pt x="2802493" y="32146"/>
                  </a:lnTo>
                  <a:lnTo>
                    <a:pt x="2826013" y="67026"/>
                  </a:lnTo>
                  <a:lnTo>
                    <a:pt x="2834639" y="109727"/>
                  </a:lnTo>
                  <a:lnTo>
                    <a:pt x="2834639" y="621792"/>
                  </a:lnTo>
                  <a:lnTo>
                    <a:pt x="2826013" y="664493"/>
                  </a:lnTo>
                  <a:lnTo>
                    <a:pt x="2802493" y="699373"/>
                  </a:lnTo>
                  <a:lnTo>
                    <a:pt x="2767613" y="722893"/>
                  </a:lnTo>
                  <a:lnTo>
                    <a:pt x="2724911" y="731519"/>
                  </a:lnTo>
                  <a:lnTo>
                    <a:pt x="109727" y="731519"/>
                  </a:lnTo>
                  <a:lnTo>
                    <a:pt x="67026" y="722893"/>
                  </a:lnTo>
                  <a:lnTo>
                    <a:pt x="32146" y="699373"/>
                  </a:lnTo>
                  <a:lnTo>
                    <a:pt x="8626" y="664493"/>
                  </a:lnTo>
                  <a:lnTo>
                    <a:pt x="0" y="621792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5B8F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322564" y="3942588"/>
              <a:ext cx="2834640" cy="731520"/>
            </a:xfrm>
            <a:custGeom>
              <a:avLst/>
              <a:gdLst/>
              <a:ahLst/>
              <a:cxnLst/>
              <a:rect l="l" t="t" r="r" b="b"/>
              <a:pathLst>
                <a:path w="2834640" h="731520">
                  <a:moveTo>
                    <a:pt x="2724911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621792"/>
                  </a:lnTo>
                  <a:lnTo>
                    <a:pt x="8626" y="664493"/>
                  </a:lnTo>
                  <a:lnTo>
                    <a:pt x="32146" y="699373"/>
                  </a:lnTo>
                  <a:lnTo>
                    <a:pt x="67026" y="722893"/>
                  </a:lnTo>
                  <a:lnTo>
                    <a:pt x="109727" y="731519"/>
                  </a:lnTo>
                  <a:lnTo>
                    <a:pt x="2724911" y="731519"/>
                  </a:lnTo>
                  <a:lnTo>
                    <a:pt x="2767613" y="722893"/>
                  </a:lnTo>
                  <a:lnTo>
                    <a:pt x="2802493" y="699373"/>
                  </a:lnTo>
                  <a:lnTo>
                    <a:pt x="2826013" y="664493"/>
                  </a:lnTo>
                  <a:lnTo>
                    <a:pt x="2834639" y="621792"/>
                  </a:lnTo>
                  <a:lnTo>
                    <a:pt x="2834639" y="109728"/>
                  </a:lnTo>
                  <a:lnTo>
                    <a:pt x="2826013" y="67026"/>
                  </a:lnTo>
                  <a:lnTo>
                    <a:pt x="2802493" y="32146"/>
                  </a:lnTo>
                  <a:lnTo>
                    <a:pt x="2767613" y="8626"/>
                  </a:lnTo>
                  <a:lnTo>
                    <a:pt x="2724911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322564" y="3942588"/>
              <a:ext cx="2834640" cy="731520"/>
            </a:xfrm>
            <a:custGeom>
              <a:avLst/>
              <a:gdLst/>
              <a:ahLst/>
              <a:cxnLst/>
              <a:rect l="l" t="t" r="r" b="b"/>
              <a:pathLst>
                <a:path w="2834640" h="731520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2724911" y="0"/>
                  </a:lnTo>
                  <a:lnTo>
                    <a:pt x="2767613" y="8626"/>
                  </a:lnTo>
                  <a:lnTo>
                    <a:pt x="2802493" y="32146"/>
                  </a:lnTo>
                  <a:lnTo>
                    <a:pt x="2826013" y="67026"/>
                  </a:lnTo>
                  <a:lnTo>
                    <a:pt x="2834639" y="109728"/>
                  </a:lnTo>
                  <a:lnTo>
                    <a:pt x="2834639" y="621792"/>
                  </a:lnTo>
                  <a:lnTo>
                    <a:pt x="2826013" y="664493"/>
                  </a:lnTo>
                  <a:lnTo>
                    <a:pt x="2802493" y="699373"/>
                  </a:lnTo>
                  <a:lnTo>
                    <a:pt x="2767613" y="722893"/>
                  </a:lnTo>
                  <a:lnTo>
                    <a:pt x="2724911" y="731519"/>
                  </a:lnTo>
                  <a:lnTo>
                    <a:pt x="109727" y="731519"/>
                  </a:lnTo>
                  <a:lnTo>
                    <a:pt x="67026" y="722893"/>
                  </a:lnTo>
                  <a:lnTo>
                    <a:pt x="32146" y="699373"/>
                  </a:lnTo>
                  <a:lnTo>
                    <a:pt x="8626" y="664493"/>
                  </a:lnTo>
                  <a:lnTo>
                    <a:pt x="0" y="621792"/>
                  </a:lnTo>
                  <a:lnTo>
                    <a:pt x="0" y="109728"/>
                  </a:lnTo>
                  <a:close/>
                </a:path>
              </a:pathLst>
            </a:custGeom>
            <a:ln w="9144">
              <a:solidFill>
                <a:srgbClr val="5B8F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322564" y="4875275"/>
              <a:ext cx="2834640" cy="731520"/>
            </a:xfrm>
            <a:custGeom>
              <a:avLst/>
              <a:gdLst/>
              <a:ahLst/>
              <a:cxnLst/>
              <a:rect l="l" t="t" r="r" b="b"/>
              <a:pathLst>
                <a:path w="2834640" h="731520">
                  <a:moveTo>
                    <a:pt x="2724911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621792"/>
                  </a:lnTo>
                  <a:lnTo>
                    <a:pt x="8626" y="664493"/>
                  </a:lnTo>
                  <a:lnTo>
                    <a:pt x="32146" y="699373"/>
                  </a:lnTo>
                  <a:lnTo>
                    <a:pt x="67026" y="722893"/>
                  </a:lnTo>
                  <a:lnTo>
                    <a:pt x="109727" y="731520"/>
                  </a:lnTo>
                  <a:lnTo>
                    <a:pt x="2724911" y="731520"/>
                  </a:lnTo>
                  <a:lnTo>
                    <a:pt x="2767613" y="722893"/>
                  </a:lnTo>
                  <a:lnTo>
                    <a:pt x="2802493" y="699373"/>
                  </a:lnTo>
                  <a:lnTo>
                    <a:pt x="2826013" y="664493"/>
                  </a:lnTo>
                  <a:lnTo>
                    <a:pt x="2834639" y="621792"/>
                  </a:lnTo>
                  <a:lnTo>
                    <a:pt x="2834639" y="109728"/>
                  </a:lnTo>
                  <a:lnTo>
                    <a:pt x="2826013" y="67026"/>
                  </a:lnTo>
                  <a:lnTo>
                    <a:pt x="2802493" y="32146"/>
                  </a:lnTo>
                  <a:lnTo>
                    <a:pt x="2767613" y="8626"/>
                  </a:lnTo>
                  <a:lnTo>
                    <a:pt x="2724911" y="0"/>
                  </a:lnTo>
                  <a:close/>
                </a:path>
              </a:pathLst>
            </a:custGeom>
            <a:solidFill>
              <a:srgbClr val="2B49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322564" y="4875275"/>
              <a:ext cx="2834640" cy="731520"/>
            </a:xfrm>
            <a:custGeom>
              <a:avLst/>
              <a:gdLst/>
              <a:ahLst/>
              <a:cxnLst/>
              <a:rect l="l" t="t" r="r" b="b"/>
              <a:pathLst>
                <a:path w="2834640" h="731520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2724911" y="0"/>
                  </a:lnTo>
                  <a:lnTo>
                    <a:pt x="2767613" y="8626"/>
                  </a:lnTo>
                  <a:lnTo>
                    <a:pt x="2802493" y="32146"/>
                  </a:lnTo>
                  <a:lnTo>
                    <a:pt x="2826013" y="67026"/>
                  </a:lnTo>
                  <a:lnTo>
                    <a:pt x="2834639" y="109728"/>
                  </a:lnTo>
                  <a:lnTo>
                    <a:pt x="2834639" y="621792"/>
                  </a:lnTo>
                  <a:lnTo>
                    <a:pt x="2826013" y="664493"/>
                  </a:lnTo>
                  <a:lnTo>
                    <a:pt x="2802493" y="699373"/>
                  </a:lnTo>
                  <a:lnTo>
                    <a:pt x="2767613" y="722893"/>
                  </a:lnTo>
                  <a:lnTo>
                    <a:pt x="2724911" y="731520"/>
                  </a:lnTo>
                  <a:lnTo>
                    <a:pt x="109727" y="731520"/>
                  </a:lnTo>
                  <a:lnTo>
                    <a:pt x="67026" y="722893"/>
                  </a:lnTo>
                  <a:lnTo>
                    <a:pt x="32146" y="699373"/>
                  </a:lnTo>
                  <a:lnTo>
                    <a:pt x="8626" y="664493"/>
                  </a:lnTo>
                  <a:lnTo>
                    <a:pt x="0" y="621792"/>
                  </a:lnTo>
                  <a:lnTo>
                    <a:pt x="0" y="109728"/>
                  </a:lnTo>
                  <a:close/>
                </a:path>
              </a:pathLst>
            </a:custGeom>
            <a:ln w="9144">
              <a:solidFill>
                <a:srgbClr val="5B8F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863840" y="822960"/>
            <a:ext cx="3749040" cy="5212080"/>
          </a:xfrm>
          <a:prstGeom prst="rect">
            <a:avLst/>
          </a:prstGeom>
          <a:ln w="12192">
            <a:solidFill>
              <a:srgbClr val="1F3863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endParaRPr sz="2600">
              <a:latin typeface="Times New Roman"/>
              <a:cs typeface="Times New Roman"/>
            </a:endParaRPr>
          </a:p>
          <a:p>
            <a:pPr algn="ctr" marL="5715">
              <a:lnSpc>
                <a:spcPct val="100000"/>
              </a:lnSpc>
              <a:spcBef>
                <a:spcPts val="5"/>
              </a:spcBef>
            </a:pPr>
            <a:r>
              <a:rPr dirty="0" sz="2600" spc="-20" b="1">
                <a:solidFill>
                  <a:srgbClr val="FFFFFF"/>
                </a:solidFill>
                <a:latin typeface="Calibri"/>
                <a:cs typeface="Calibri"/>
              </a:rPr>
              <a:t>.jpg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6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5"/>
              </a:spcBef>
            </a:pPr>
            <a:r>
              <a:rPr dirty="0" sz="2600" spc="-20" b="1">
                <a:solidFill>
                  <a:srgbClr val="FFFFFF"/>
                </a:solidFill>
                <a:latin typeface="Calibri"/>
                <a:cs typeface="Calibri"/>
              </a:rPr>
              <a:t>.pdf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600">
              <a:latin typeface="Calibri"/>
              <a:cs typeface="Calibri"/>
            </a:endParaRPr>
          </a:p>
          <a:p>
            <a:pPr algn="ctr" marL="5715">
              <a:lnSpc>
                <a:spcPct val="100000"/>
              </a:lnSpc>
            </a:pPr>
            <a:r>
              <a:rPr dirty="0" sz="2600" spc="-20" b="1">
                <a:solidFill>
                  <a:srgbClr val="FFFFFF"/>
                </a:solidFill>
                <a:latin typeface="Calibri"/>
                <a:cs typeface="Calibri"/>
              </a:rPr>
              <a:t>.png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600">
              <a:latin typeface="Calibri"/>
              <a:cs typeface="Calibri"/>
            </a:endParaRPr>
          </a:p>
          <a:p>
            <a:pPr algn="ctr" marL="6350">
              <a:lnSpc>
                <a:spcPct val="100000"/>
              </a:lnSpc>
            </a:pPr>
            <a:r>
              <a:rPr dirty="0" sz="2600" spc="-20" b="1">
                <a:solidFill>
                  <a:srgbClr val="FFFFFF"/>
                </a:solidFill>
                <a:latin typeface="Calibri"/>
                <a:cs typeface="Calibri"/>
              </a:rPr>
              <a:t>.txt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600">
              <a:latin typeface="Calibri"/>
              <a:cs typeface="Calibri"/>
            </a:endParaRPr>
          </a:p>
          <a:p>
            <a:pPr algn="ctr" marL="4445">
              <a:lnSpc>
                <a:spcPct val="100000"/>
              </a:lnSpc>
            </a:pPr>
            <a:r>
              <a:rPr dirty="0" sz="2600" spc="-20" b="1">
                <a:solidFill>
                  <a:srgbClr val="FFFFFF"/>
                </a:solidFill>
                <a:latin typeface="Calibri"/>
                <a:cs typeface="Calibri"/>
              </a:rPr>
              <a:t>.gif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Chandan Kumar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25U020047</a:t>
            </a:r>
            <a:r>
              <a:rPr dirty="0" spc="225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APL Lab</a:t>
            </a:r>
            <a:r>
              <a:rPr dirty="0" spc="5"/>
              <a:t> </a:t>
            </a:r>
            <a:r>
              <a:rPr dirty="0"/>
              <a:t>(CSE-3006)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Group</a:t>
            </a:r>
            <a:r>
              <a:rPr dirty="0" spc="5"/>
              <a:t> </a:t>
            </a:r>
            <a:r>
              <a:rPr dirty="0" spc="-10"/>
              <a:t>Project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Symbol"/>
                <a:cs typeface="Symbol"/>
              </a:rPr>
              <a:t>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/>
              <a:t>Back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Index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 </a:t>
            </a:r>
            <a:r>
              <a:rPr dirty="0"/>
              <a:t>84</a:t>
            </a:r>
            <a:r>
              <a:rPr dirty="0" spc="5"/>
              <a:t> </a:t>
            </a:r>
            <a:r>
              <a:rPr dirty="0"/>
              <a:t>of </a:t>
            </a:r>
            <a:r>
              <a:rPr dirty="0" spc="-25"/>
              <a:t>91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85"/>
              <a:t> </a:t>
            </a:r>
            <a:r>
              <a:rPr dirty="0" spc="-1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5591" y="1368552"/>
            <a:ext cx="3575685" cy="3392804"/>
            <a:chOff x="545591" y="1368552"/>
            <a:chExt cx="3575685" cy="3392804"/>
          </a:xfrm>
        </p:grpSpPr>
        <p:sp>
          <p:nvSpPr>
            <p:cNvPr id="4" name="object 4"/>
            <p:cNvSpPr/>
            <p:nvPr/>
          </p:nvSpPr>
          <p:spPr>
            <a:xfrm>
              <a:off x="550163" y="1373124"/>
              <a:ext cx="3566160" cy="3383279"/>
            </a:xfrm>
            <a:custGeom>
              <a:avLst/>
              <a:gdLst/>
              <a:ahLst/>
              <a:cxnLst/>
              <a:rect l="l" t="t" r="r" b="b"/>
              <a:pathLst>
                <a:path w="3566160" h="3383279">
                  <a:moveTo>
                    <a:pt x="3566160" y="0"/>
                  </a:moveTo>
                  <a:lnTo>
                    <a:pt x="0" y="0"/>
                  </a:lnTo>
                  <a:lnTo>
                    <a:pt x="0" y="3383279"/>
                  </a:lnTo>
                  <a:lnTo>
                    <a:pt x="3566160" y="3383279"/>
                  </a:lnTo>
                  <a:lnTo>
                    <a:pt x="3566160" y="0"/>
                  </a:lnTo>
                  <a:close/>
                </a:path>
              </a:pathLst>
            </a:custGeom>
            <a:solidFill>
              <a:srgbClr val="EAF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50163" y="1373124"/>
              <a:ext cx="3566160" cy="3383279"/>
            </a:xfrm>
            <a:custGeom>
              <a:avLst/>
              <a:gdLst/>
              <a:ahLst/>
              <a:cxnLst/>
              <a:rect l="l" t="t" r="r" b="b"/>
              <a:pathLst>
                <a:path w="3566160" h="3383279">
                  <a:moveTo>
                    <a:pt x="0" y="3383279"/>
                  </a:moveTo>
                  <a:lnTo>
                    <a:pt x="3566160" y="3383279"/>
                  </a:lnTo>
                  <a:lnTo>
                    <a:pt x="3566160" y="0"/>
                  </a:lnTo>
                  <a:lnTo>
                    <a:pt x="0" y="0"/>
                  </a:lnTo>
                  <a:lnTo>
                    <a:pt x="0" y="3383279"/>
                  </a:lnTo>
                  <a:close/>
                </a:path>
              </a:pathLst>
            </a:custGeom>
            <a:ln w="9144">
              <a:solidFill>
                <a:srgbClr val="D5DF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22959" y="16459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22959" y="16459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4" y="139624"/>
                  </a:lnTo>
                  <a:lnTo>
                    <a:pt x="39041" y="100793"/>
                  </a:lnTo>
                  <a:lnTo>
                    <a:pt x="66955" y="66960"/>
                  </a:lnTo>
                  <a:lnTo>
                    <a:pt x="100788" y="39045"/>
                  </a:lnTo>
                  <a:lnTo>
                    <a:pt x="139619" y="17966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0" y="17966"/>
                  </a:lnTo>
                  <a:lnTo>
                    <a:pt x="356411" y="39045"/>
                  </a:lnTo>
                  <a:lnTo>
                    <a:pt x="390244" y="66960"/>
                  </a:lnTo>
                  <a:lnTo>
                    <a:pt x="418158" y="100793"/>
                  </a:lnTo>
                  <a:lnTo>
                    <a:pt x="439235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5" y="317575"/>
                  </a:lnTo>
                  <a:lnTo>
                    <a:pt x="418158" y="356406"/>
                  </a:lnTo>
                  <a:lnTo>
                    <a:pt x="390244" y="390239"/>
                  </a:lnTo>
                  <a:lnTo>
                    <a:pt x="356411" y="418154"/>
                  </a:lnTo>
                  <a:lnTo>
                    <a:pt x="317580" y="439233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3"/>
                  </a:lnTo>
                  <a:lnTo>
                    <a:pt x="100788" y="418154"/>
                  </a:lnTo>
                  <a:lnTo>
                    <a:pt x="66955" y="390239"/>
                  </a:lnTo>
                  <a:lnTo>
                    <a:pt x="39041" y="356406"/>
                  </a:lnTo>
                  <a:lnTo>
                    <a:pt x="17964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00048" y="1725549"/>
            <a:ext cx="11620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3294" y="1695069"/>
            <a:ext cx="135382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solidFill>
                  <a:srgbClr val="1F3863"/>
                </a:solidFill>
                <a:latin typeface="Calibri"/>
                <a:cs typeface="Calibri"/>
              </a:rPr>
              <a:t>The</a:t>
            </a:r>
            <a:r>
              <a:rPr dirty="0" sz="2000" spc="-3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1F3863"/>
                </a:solidFill>
                <a:latin typeface="Calibri"/>
                <a:cs typeface="Calibri"/>
              </a:rPr>
              <a:t>problem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3264" y="2259330"/>
            <a:ext cx="26714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6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file’s</a:t>
            </a:r>
            <a:r>
              <a:rPr dirty="0" sz="16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extension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can</a:t>
            </a:r>
            <a:r>
              <a:rPr dirty="0" sz="16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be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wrong,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missing</a:t>
            </a:r>
            <a:r>
              <a:rPr dirty="0" sz="16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or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deliberately</a:t>
            </a:r>
            <a:r>
              <a:rPr dirty="0" sz="1600" spc="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changed.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3264" y="3143504"/>
            <a:ext cx="2891155" cy="51498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goal:</a:t>
            </a:r>
            <a:r>
              <a:rPr dirty="0" sz="16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tell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what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file</a:t>
            </a:r>
            <a:r>
              <a:rPr dirty="0" sz="16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really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is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by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looking</a:t>
            </a:r>
            <a:r>
              <a:rPr dirty="0" sz="16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at</a:t>
            </a:r>
            <a:r>
              <a:rPr dirty="0" sz="16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its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content.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94632" y="1368552"/>
            <a:ext cx="3575685" cy="3392804"/>
            <a:chOff x="4294632" y="1368552"/>
            <a:chExt cx="3575685" cy="3392804"/>
          </a:xfrm>
        </p:grpSpPr>
        <p:sp>
          <p:nvSpPr>
            <p:cNvPr id="13" name="object 13"/>
            <p:cNvSpPr/>
            <p:nvPr/>
          </p:nvSpPr>
          <p:spPr>
            <a:xfrm>
              <a:off x="4299204" y="1373124"/>
              <a:ext cx="3566160" cy="3383279"/>
            </a:xfrm>
            <a:custGeom>
              <a:avLst/>
              <a:gdLst/>
              <a:ahLst/>
              <a:cxnLst/>
              <a:rect l="l" t="t" r="r" b="b"/>
              <a:pathLst>
                <a:path w="3566159" h="3383279">
                  <a:moveTo>
                    <a:pt x="3566159" y="0"/>
                  </a:moveTo>
                  <a:lnTo>
                    <a:pt x="0" y="0"/>
                  </a:lnTo>
                  <a:lnTo>
                    <a:pt x="0" y="3383279"/>
                  </a:lnTo>
                  <a:lnTo>
                    <a:pt x="3566159" y="3383279"/>
                  </a:lnTo>
                  <a:lnTo>
                    <a:pt x="3566159" y="0"/>
                  </a:lnTo>
                  <a:close/>
                </a:path>
              </a:pathLst>
            </a:custGeom>
            <a:solidFill>
              <a:srgbClr val="EAF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299204" y="1373124"/>
              <a:ext cx="3566160" cy="3383279"/>
            </a:xfrm>
            <a:custGeom>
              <a:avLst/>
              <a:gdLst/>
              <a:ahLst/>
              <a:cxnLst/>
              <a:rect l="l" t="t" r="r" b="b"/>
              <a:pathLst>
                <a:path w="3566159" h="3383279">
                  <a:moveTo>
                    <a:pt x="0" y="3383279"/>
                  </a:moveTo>
                  <a:lnTo>
                    <a:pt x="3566159" y="3383279"/>
                  </a:lnTo>
                  <a:lnTo>
                    <a:pt x="3566159" y="0"/>
                  </a:lnTo>
                  <a:lnTo>
                    <a:pt x="0" y="0"/>
                  </a:lnTo>
                  <a:lnTo>
                    <a:pt x="0" y="3383279"/>
                  </a:lnTo>
                  <a:close/>
                </a:path>
              </a:pathLst>
            </a:custGeom>
            <a:ln w="9143">
              <a:solidFill>
                <a:srgbClr val="D5DF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72000" y="16459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72000" y="16459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750053" y="1725549"/>
            <a:ext cx="11620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13350" y="1695069"/>
            <a:ext cx="157607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solidFill>
                  <a:srgbClr val="1F3863"/>
                </a:solidFill>
                <a:latin typeface="Calibri"/>
                <a:cs typeface="Calibri"/>
              </a:rPr>
              <a:t>Why</a:t>
            </a:r>
            <a:r>
              <a:rPr dirty="0" sz="2000" spc="-35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F3863"/>
                </a:solidFill>
                <a:latin typeface="Calibri"/>
                <a:cs typeface="Calibri"/>
              </a:rPr>
              <a:t>it</a:t>
            </a:r>
            <a:r>
              <a:rPr dirty="0" sz="2000" spc="-4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1F3863"/>
                </a:solidFill>
                <a:latin typeface="Calibri"/>
                <a:cs typeface="Calibri"/>
              </a:rPr>
              <a:t>matters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3270" y="2259330"/>
            <a:ext cx="26225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Upload</a:t>
            </a:r>
            <a:r>
              <a:rPr dirty="0" sz="1600" spc="-7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filters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600" spc="-6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security</a:t>
            </a:r>
            <a:r>
              <a:rPr dirty="0" sz="16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tools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must</a:t>
            </a:r>
            <a:r>
              <a:rPr dirty="0" sz="16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not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trust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names</a:t>
            </a:r>
            <a:r>
              <a:rPr dirty="0" sz="1600" spc="-7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alone.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73270" y="3143504"/>
            <a:ext cx="2780030" cy="51498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Useful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in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forensics</a:t>
            </a:r>
            <a:r>
              <a:rPr dirty="0" sz="1600" spc="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6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recovering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unlabelled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files.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043671" y="1368552"/>
            <a:ext cx="3575685" cy="3392804"/>
            <a:chOff x="8043671" y="1368552"/>
            <a:chExt cx="3575685" cy="3392804"/>
          </a:xfrm>
        </p:grpSpPr>
        <p:sp>
          <p:nvSpPr>
            <p:cNvPr id="22" name="object 22"/>
            <p:cNvSpPr/>
            <p:nvPr/>
          </p:nvSpPr>
          <p:spPr>
            <a:xfrm>
              <a:off x="8048243" y="1373124"/>
              <a:ext cx="3566160" cy="3383279"/>
            </a:xfrm>
            <a:custGeom>
              <a:avLst/>
              <a:gdLst/>
              <a:ahLst/>
              <a:cxnLst/>
              <a:rect l="l" t="t" r="r" b="b"/>
              <a:pathLst>
                <a:path w="3566159" h="3383279">
                  <a:moveTo>
                    <a:pt x="3566159" y="0"/>
                  </a:moveTo>
                  <a:lnTo>
                    <a:pt x="0" y="0"/>
                  </a:lnTo>
                  <a:lnTo>
                    <a:pt x="0" y="3383279"/>
                  </a:lnTo>
                  <a:lnTo>
                    <a:pt x="3566159" y="3383279"/>
                  </a:lnTo>
                  <a:lnTo>
                    <a:pt x="3566159" y="0"/>
                  </a:lnTo>
                  <a:close/>
                </a:path>
              </a:pathLst>
            </a:custGeom>
            <a:solidFill>
              <a:srgbClr val="EAF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048243" y="1373124"/>
              <a:ext cx="3566160" cy="3383279"/>
            </a:xfrm>
            <a:custGeom>
              <a:avLst/>
              <a:gdLst/>
              <a:ahLst/>
              <a:cxnLst/>
              <a:rect l="l" t="t" r="r" b="b"/>
              <a:pathLst>
                <a:path w="3566159" h="3383279">
                  <a:moveTo>
                    <a:pt x="0" y="3383279"/>
                  </a:moveTo>
                  <a:lnTo>
                    <a:pt x="3566159" y="3383279"/>
                  </a:lnTo>
                  <a:lnTo>
                    <a:pt x="3566159" y="0"/>
                  </a:lnTo>
                  <a:lnTo>
                    <a:pt x="0" y="0"/>
                  </a:lnTo>
                  <a:lnTo>
                    <a:pt x="0" y="3383279"/>
                  </a:lnTo>
                  <a:close/>
                </a:path>
              </a:pathLst>
            </a:custGeom>
            <a:ln w="9143">
              <a:solidFill>
                <a:srgbClr val="D5DF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321039" y="16459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321039" y="16459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499982" y="1725549"/>
            <a:ext cx="11620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63279" y="1695069"/>
            <a:ext cx="63944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spc="-10" b="1">
                <a:solidFill>
                  <a:srgbClr val="1F3863"/>
                </a:solidFill>
                <a:latin typeface="Calibri"/>
                <a:cs typeface="Calibri"/>
              </a:rPr>
              <a:t>Scope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23198" y="2259330"/>
            <a:ext cx="2861945" cy="758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Included: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5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classes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(JPG,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PDF,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PNG, 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TXT,</a:t>
            </a:r>
            <a:r>
              <a:rPr dirty="0" sz="1600" spc="-6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GIF),</a:t>
            </a:r>
            <a:r>
              <a:rPr dirty="0" sz="16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content-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only</a:t>
            </a:r>
            <a:r>
              <a:rPr dirty="0" sz="1600" spc="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features,</a:t>
            </a:r>
            <a:r>
              <a:rPr dirty="0" sz="1600" spc="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50">
                <a:solidFill>
                  <a:srgbClr val="585858"/>
                </a:solidFill>
                <a:latin typeface="Calibri"/>
                <a:cs typeface="Calibri"/>
              </a:rPr>
              <a:t>a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Random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Forest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model.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23198" y="3387038"/>
            <a:ext cx="2903220" cy="5149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Excluded:</a:t>
            </a:r>
            <a:r>
              <a:rPr dirty="0" sz="160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other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formats,</a:t>
            </a:r>
            <a:r>
              <a:rPr dirty="0" sz="16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corrupted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or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encrypted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files,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deep</a:t>
            </a:r>
            <a:r>
              <a:rPr dirty="0" sz="16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learning.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Chandan Kumar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25U020047</a:t>
            </a:r>
            <a:r>
              <a:rPr dirty="0" spc="225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APL Lab</a:t>
            </a:r>
            <a:r>
              <a:rPr dirty="0" spc="5"/>
              <a:t> </a:t>
            </a:r>
            <a:r>
              <a:rPr dirty="0"/>
              <a:t>(CSE-3006)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Group</a:t>
            </a:r>
            <a:r>
              <a:rPr dirty="0" spc="5"/>
              <a:t> </a:t>
            </a:r>
            <a:r>
              <a:rPr dirty="0" spc="-10"/>
              <a:t>Project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Symbol"/>
                <a:cs typeface="Symbol"/>
              </a:rPr>
              <a:t>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/>
              <a:t>Back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Index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 </a:t>
            </a:r>
            <a:r>
              <a:rPr dirty="0"/>
              <a:t>85</a:t>
            </a:r>
            <a:r>
              <a:rPr dirty="0" spc="5"/>
              <a:t> </a:t>
            </a:r>
            <a:r>
              <a:rPr dirty="0"/>
              <a:t>of </a:t>
            </a:r>
            <a:r>
              <a:rPr dirty="0" spc="-25"/>
              <a:t>91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Dataset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0163" y="1373124"/>
            <a:ext cx="2606040" cy="1828800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133350" rIns="0" bIns="0" rtlCol="0" vert="horz">
            <a:spAutoFit/>
          </a:bodyPr>
          <a:lstStyle/>
          <a:p>
            <a:pPr marL="721360">
              <a:lnSpc>
                <a:spcPct val="100000"/>
              </a:lnSpc>
              <a:spcBef>
                <a:spcPts val="1050"/>
              </a:spcBef>
            </a:pPr>
            <a:r>
              <a:rPr dirty="0" sz="6000" spc="-25" b="1">
                <a:solidFill>
                  <a:srgbClr val="1F3863"/>
                </a:solidFill>
                <a:latin typeface="Calibri"/>
                <a:cs typeface="Calibri"/>
              </a:rPr>
              <a:t>505</a:t>
            </a:r>
            <a:endParaRPr sz="6000">
              <a:latin typeface="Calibri"/>
              <a:cs typeface="Calibri"/>
            </a:endParaRPr>
          </a:p>
          <a:p>
            <a:pPr marL="822325">
              <a:lnSpc>
                <a:spcPct val="100000"/>
              </a:lnSpc>
              <a:spcBef>
                <a:spcPts val="1475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files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in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total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39084" y="1373124"/>
            <a:ext cx="2606040" cy="1828800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1333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dirty="0" sz="6000" spc="-50" b="1">
                <a:solidFill>
                  <a:srgbClr val="1F3863"/>
                </a:solidFill>
                <a:latin typeface="Calibri"/>
                <a:cs typeface="Calibri"/>
              </a:rPr>
              <a:t>5</a:t>
            </a:r>
            <a:endParaRPr sz="6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75"/>
              </a:spcBef>
            </a:pP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classes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8003" y="1373124"/>
            <a:ext cx="2606040" cy="1828800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133350" rIns="0" bIns="0" rtlCol="0" vert="horz">
            <a:spAutoFit/>
          </a:bodyPr>
          <a:lstStyle/>
          <a:p>
            <a:pPr marL="722630">
              <a:lnSpc>
                <a:spcPct val="100000"/>
              </a:lnSpc>
              <a:spcBef>
                <a:spcPts val="1050"/>
              </a:spcBef>
            </a:pPr>
            <a:r>
              <a:rPr dirty="0" sz="6000" spc="-25" b="1">
                <a:solidFill>
                  <a:srgbClr val="1F3863"/>
                </a:solidFill>
                <a:latin typeface="Calibri"/>
                <a:cs typeface="Calibri"/>
              </a:rPr>
              <a:t>101</a:t>
            </a:r>
            <a:endParaRPr sz="60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1475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files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per</a:t>
            </a:r>
            <a:r>
              <a:rPr dirty="0" sz="16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class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16923" y="1373124"/>
            <a:ext cx="2606040" cy="1828800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133350" rIns="0" bIns="0" rtlCol="0" vert="horz">
            <a:spAutoFit/>
          </a:bodyPr>
          <a:lstStyle/>
          <a:p>
            <a:pPr marL="723265">
              <a:lnSpc>
                <a:spcPct val="100000"/>
              </a:lnSpc>
              <a:spcBef>
                <a:spcPts val="1050"/>
              </a:spcBef>
            </a:pPr>
            <a:r>
              <a:rPr dirty="0" sz="6000" spc="-25" b="1">
                <a:solidFill>
                  <a:srgbClr val="1F3863"/>
                </a:solidFill>
                <a:latin typeface="Calibri"/>
                <a:cs typeface="Calibri"/>
              </a:rPr>
              <a:t>256</a:t>
            </a:r>
            <a:endParaRPr sz="6000">
              <a:latin typeface="Calibri"/>
              <a:cs typeface="Calibri"/>
            </a:endParaRPr>
          </a:p>
          <a:p>
            <a:pPr marL="653415">
              <a:lnSpc>
                <a:spcPct val="100000"/>
              </a:lnSpc>
              <a:spcBef>
                <a:spcPts val="1475"/>
              </a:spcBef>
            </a:pP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features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per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file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0163" y="3521964"/>
            <a:ext cx="5440680" cy="2377440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197485" rIns="0" bIns="0" rtlCol="0" vert="horz">
            <a:spAutoFit/>
          </a:bodyPr>
          <a:lstStyle/>
          <a:p>
            <a:pPr marL="273050">
              <a:lnSpc>
                <a:spcPct val="100000"/>
              </a:lnSpc>
              <a:spcBef>
                <a:spcPts val="1555"/>
              </a:spcBef>
            </a:pPr>
            <a:r>
              <a:rPr dirty="0" sz="2000" b="1">
                <a:solidFill>
                  <a:srgbClr val="1F3863"/>
                </a:solidFill>
                <a:latin typeface="Calibri"/>
                <a:cs typeface="Calibri"/>
              </a:rPr>
              <a:t>Source</a:t>
            </a:r>
            <a:r>
              <a:rPr dirty="0" sz="2000" spc="-45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F3863"/>
                </a:solidFill>
                <a:latin typeface="Calibri"/>
                <a:cs typeface="Calibri"/>
              </a:rPr>
              <a:t>and</a:t>
            </a:r>
            <a:r>
              <a:rPr dirty="0" sz="2000" spc="-6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1F3863"/>
                </a:solidFill>
                <a:latin typeface="Calibri"/>
                <a:cs typeface="Calibri"/>
              </a:rPr>
              <a:t>balance</a:t>
            </a:r>
            <a:endParaRPr sz="2000">
              <a:latin typeface="Calibri"/>
              <a:cs typeface="Calibri"/>
            </a:endParaRPr>
          </a:p>
          <a:p>
            <a:pPr marL="617220" marR="350520" indent="-344805">
              <a:lnSpc>
                <a:spcPct val="100000"/>
              </a:lnSpc>
              <a:spcBef>
                <a:spcPts val="1335"/>
              </a:spcBef>
              <a:buChar char="•"/>
              <a:tabLst>
                <a:tab pos="617220" algn="l"/>
              </a:tabLst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Custom</a:t>
            </a:r>
            <a:r>
              <a:rPr dirty="0" sz="16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folder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dataset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(dataset.zip),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one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folder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per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file type</a:t>
            </a:r>
            <a:endParaRPr sz="1600">
              <a:latin typeface="Calibri"/>
              <a:cs typeface="Calibri"/>
            </a:endParaRPr>
          </a:p>
          <a:p>
            <a:pPr marL="617220" indent="-344170">
              <a:lnSpc>
                <a:spcPct val="100000"/>
              </a:lnSpc>
              <a:spcBef>
                <a:spcPts val="600"/>
              </a:spcBef>
              <a:buChar char="•"/>
              <a:tabLst>
                <a:tab pos="617220" algn="l"/>
              </a:tabLst>
            </a:pP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Perfectly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 balanced:</a:t>
            </a:r>
            <a:r>
              <a:rPr dirty="0" sz="16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101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samples</a:t>
            </a:r>
            <a:r>
              <a:rPr dirty="0" sz="160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in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every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class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73723" y="3521964"/>
            <a:ext cx="5440680" cy="2377440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197485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1555"/>
              </a:spcBef>
            </a:pPr>
            <a:r>
              <a:rPr dirty="0" sz="2000" spc="-10" b="1">
                <a:solidFill>
                  <a:srgbClr val="1F3863"/>
                </a:solidFill>
                <a:latin typeface="Calibri"/>
                <a:cs typeface="Calibri"/>
              </a:rPr>
              <a:t>Preprocessing</a:t>
            </a:r>
            <a:endParaRPr sz="2000">
              <a:latin typeface="Calibri"/>
              <a:cs typeface="Calibri"/>
            </a:endParaRPr>
          </a:p>
          <a:p>
            <a:pPr marL="618490" indent="-344170">
              <a:lnSpc>
                <a:spcPct val="100000"/>
              </a:lnSpc>
              <a:spcBef>
                <a:spcPts val="1335"/>
              </a:spcBef>
              <a:buChar char="•"/>
              <a:tabLst>
                <a:tab pos="618490" algn="l"/>
              </a:tabLst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Empty</a:t>
            </a:r>
            <a:r>
              <a:rPr dirty="0" sz="160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files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 skipped</a:t>
            </a:r>
            <a:endParaRPr sz="1600">
              <a:latin typeface="Calibri"/>
              <a:cs typeface="Calibri"/>
            </a:endParaRPr>
          </a:p>
          <a:p>
            <a:pPr marL="618490" indent="-344170">
              <a:lnSpc>
                <a:spcPct val="100000"/>
              </a:lnSpc>
              <a:spcBef>
                <a:spcPts val="600"/>
              </a:spcBef>
              <a:buChar char="•"/>
              <a:tabLst>
                <a:tab pos="618490" algn="l"/>
              </a:tabLst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Count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how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often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each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byte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value</a:t>
            </a:r>
            <a:r>
              <a:rPr dirty="0" sz="16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(0–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255)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occurs</a:t>
            </a:r>
            <a:endParaRPr sz="1600">
              <a:latin typeface="Calibri"/>
              <a:cs typeface="Calibri"/>
            </a:endParaRPr>
          </a:p>
          <a:p>
            <a:pPr marL="618490" indent="-344170">
              <a:lnSpc>
                <a:spcPct val="100000"/>
              </a:lnSpc>
              <a:spcBef>
                <a:spcPts val="605"/>
              </a:spcBef>
              <a:buChar char="•"/>
              <a:tabLst>
                <a:tab pos="618490" algn="l"/>
              </a:tabLst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Divide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by</a:t>
            </a:r>
            <a:r>
              <a:rPr dirty="0" sz="16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file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length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to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normalise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Chandan Kumar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25U020047</a:t>
            </a:r>
            <a:r>
              <a:rPr dirty="0" spc="225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APL Lab</a:t>
            </a:r>
            <a:r>
              <a:rPr dirty="0" spc="5"/>
              <a:t> </a:t>
            </a:r>
            <a:r>
              <a:rPr dirty="0"/>
              <a:t>(CSE-3006)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Group</a:t>
            </a:r>
            <a:r>
              <a:rPr dirty="0" spc="5"/>
              <a:t> </a:t>
            </a:r>
            <a:r>
              <a:rPr dirty="0" spc="-10"/>
              <a:t>Project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Symbol"/>
                <a:cs typeface="Symbol"/>
              </a:rPr>
              <a:t>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/>
              <a:t>Back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Index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 </a:t>
            </a:r>
            <a:r>
              <a:rPr dirty="0"/>
              <a:t>86</a:t>
            </a:r>
            <a:r>
              <a:rPr dirty="0" spc="5"/>
              <a:t> </a:t>
            </a:r>
            <a:r>
              <a:rPr dirty="0"/>
              <a:t>of </a:t>
            </a:r>
            <a:r>
              <a:rPr dirty="0" spc="-25"/>
              <a:t>91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Methodology</a:t>
            </a:r>
            <a:r>
              <a:rPr dirty="0" spc="-50"/>
              <a:t> </a:t>
            </a:r>
            <a:r>
              <a:rPr dirty="0"/>
              <a:t>/</a:t>
            </a:r>
            <a:r>
              <a:rPr dirty="0" spc="-75"/>
              <a:t> </a:t>
            </a:r>
            <a:r>
              <a:rPr dirty="0" spc="-10"/>
              <a:t>Approach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5591" y="1368552"/>
            <a:ext cx="1929764" cy="1381125"/>
            <a:chOff x="545591" y="1368552"/>
            <a:chExt cx="1929764" cy="1381125"/>
          </a:xfrm>
        </p:grpSpPr>
        <p:sp>
          <p:nvSpPr>
            <p:cNvPr id="4" name="object 4"/>
            <p:cNvSpPr/>
            <p:nvPr/>
          </p:nvSpPr>
          <p:spPr>
            <a:xfrm>
              <a:off x="550163" y="1373124"/>
              <a:ext cx="1920239" cy="1371600"/>
            </a:xfrm>
            <a:custGeom>
              <a:avLst/>
              <a:gdLst/>
              <a:ahLst/>
              <a:cxnLst/>
              <a:rect l="l" t="t" r="r" b="b"/>
              <a:pathLst>
                <a:path w="1920239" h="1371600">
                  <a:moveTo>
                    <a:pt x="1828800" y="0"/>
                  </a:moveTo>
                  <a:lnTo>
                    <a:pt x="91440" y="0"/>
                  </a:lnTo>
                  <a:lnTo>
                    <a:pt x="55849" y="7179"/>
                  </a:lnTo>
                  <a:lnTo>
                    <a:pt x="26784" y="26765"/>
                  </a:lnTo>
                  <a:lnTo>
                    <a:pt x="7186" y="55828"/>
                  </a:lnTo>
                  <a:lnTo>
                    <a:pt x="0" y="91439"/>
                  </a:lnTo>
                  <a:lnTo>
                    <a:pt x="0" y="1280160"/>
                  </a:lnTo>
                  <a:lnTo>
                    <a:pt x="7186" y="1315771"/>
                  </a:lnTo>
                  <a:lnTo>
                    <a:pt x="26784" y="1344834"/>
                  </a:lnTo>
                  <a:lnTo>
                    <a:pt x="55849" y="1364420"/>
                  </a:lnTo>
                  <a:lnTo>
                    <a:pt x="91440" y="1371600"/>
                  </a:lnTo>
                  <a:lnTo>
                    <a:pt x="1828800" y="1371600"/>
                  </a:lnTo>
                  <a:lnTo>
                    <a:pt x="1864411" y="1364420"/>
                  </a:lnTo>
                  <a:lnTo>
                    <a:pt x="1893474" y="1344834"/>
                  </a:lnTo>
                  <a:lnTo>
                    <a:pt x="1913060" y="1315771"/>
                  </a:lnTo>
                  <a:lnTo>
                    <a:pt x="1920240" y="1280160"/>
                  </a:lnTo>
                  <a:lnTo>
                    <a:pt x="1920240" y="91439"/>
                  </a:lnTo>
                  <a:lnTo>
                    <a:pt x="1913060" y="55828"/>
                  </a:lnTo>
                  <a:lnTo>
                    <a:pt x="1893474" y="26765"/>
                  </a:lnTo>
                  <a:lnTo>
                    <a:pt x="1864411" y="7179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AF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50163" y="1373124"/>
              <a:ext cx="1920239" cy="1371600"/>
            </a:xfrm>
            <a:custGeom>
              <a:avLst/>
              <a:gdLst/>
              <a:ahLst/>
              <a:cxnLst/>
              <a:rect l="l" t="t" r="r" b="b"/>
              <a:pathLst>
                <a:path w="1920239" h="1371600">
                  <a:moveTo>
                    <a:pt x="0" y="91439"/>
                  </a:moveTo>
                  <a:lnTo>
                    <a:pt x="7186" y="55828"/>
                  </a:lnTo>
                  <a:lnTo>
                    <a:pt x="26784" y="26765"/>
                  </a:lnTo>
                  <a:lnTo>
                    <a:pt x="55849" y="7179"/>
                  </a:lnTo>
                  <a:lnTo>
                    <a:pt x="91440" y="0"/>
                  </a:lnTo>
                  <a:lnTo>
                    <a:pt x="1828800" y="0"/>
                  </a:lnTo>
                  <a:lnTo>
                    <a:pt x="1864411" y="7179"/>
                  </a:lnTo>
                  <a:lnTo>
                    <a:pt x="1893474" y="26765"/>
                  </a:lnTo>
                  <a:lnTo>
                    <a:pt x="1913060" y="55828"/>
                  </a:lnTo>
                  <a:lnTo>
                    <a:pt x="1920240" y="91439"/>
                  </a:lnTo>
                  <a:lnTo>
                    <a:pt x="1920240" y="1280160"/>
                  </a:lnTo>
                  <a:lnTo>
                    <a:pt x="1913060" y="1315771"/>
                  </a:lnTo>
                  <a:lnTo>
                    <a:pt x="1893474" y="1344834"/>
                  </a:lnTo>
                  <a:lnTo>
                    <a:pt x="1864411" y="1364420"/>
                  </a:lnTo>
                  <a:lnTo>
                    <a:pt x="1828800" y="1371600"/>
                  </a:lnTo>
                  <a:lnTo>
                    <a:pt x="91440" y="1371600"/>
                  </a:lnTo>
                  <a:lnTo>
                    <a:pt x="55849" y="1364420"/>
                  </a:lnTo>
                  <a:lnTo>
                    <a:pt x="26784" y="1344834"/>
                  </a:lnTo>
                  <a:lnTo>
                    <a:pt x="7186" y="1315771"/>
                  </a:lnTo>
                  <a:lnTo>
                    <a:pt x="0" y="1280160"/>
                  </a:lnTo>
                  <a:lnTo>
                    <a:pt x="0" y="91439"/>
                  </a:lnTo>
                  <a:close/>
                </a:path>
              </a:pathLst>
            </a:custGeom>
            <a:ln w="9144">
              <a:solidFill>
                <a:srgbClr val="D5DF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20267" y="1786509"/>
            <a:ext cx="972185" cy="5181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Raw</a:t>
            </a:r>
            <a:r>
              <a:rPr dirty="0" sz="1800" spc="-1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1F3863"/>
                </a:solidFill>
                <a:latin typeface="Calibri"/>
                <a:cs typeface="Calibri"/>
              </a:rPr>
              <a:t>file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read</a:t>
            </a:r>
            <a:r>
              <a:rPr dirty="0" sz="14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as</a:t>
            </a:r>
            <a:r>
              <a:rPr dirty="0" sz="14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bytes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64129" y="1740484"/>
            <a:ext cx="18351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 b="1">
                <a:solidFill>
                  <a:srgbClr val="2D75B6"/>
                </a:solidFill>
                <a:latin typeface="Calibri"/>
                <a:cs typeface="Calibri"/>
              </a:rPr>
              <a:t>›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843783" y="1368552"/>
            <a:ext cx="1929764" cy="1381125"/>
            <a:chOff x="2843783" y="1368552"/>
            <a:chExt cx="1929764" cy="1381125"/>
          </a:xfrm>
        </p:grpSpPr>
        <p:sp>
          <p:nvSpPr>
            <p:cNvPr id="9" name="object 9"/>
            <p:cNvSpPr/>
            <p:nvPr/>
          </p:nvSpPr>
          <p:spPr>
            <a:xfrm>
              <a:off x="2848355" y="1373124"/>
              <a:ext cx="1920239" cy="1371600"/>
            </a:xfrm>
            <a:custGeom>
              <a:avLst/>
              <a:gdLst/>
              <a:ahLst/>
              <a:cxnLst/>
              <a:rect l="l" t="t" r="r" b="b"/>
              <a:pathLst>
                <a:path w="1920239" h="1371600">
                  <a:moveTo>
                    <a:pt x="1828799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280160"/>
                  </a:lnTo>
                  <a:lnTo>
                    <a:pt x="7179" y="1315771"/>
                  </a:lnTo>
                  <a:lnTo>
                    <a:pt x="26765" y="1344834"/>
                  </a:lnTo>
                  <a:lnTo>
                    <a:pt x="55828" y="1364420"/>
                  </a:lnTo>
                  <a:lnTo>
                    <a:pt x="91439" y="1371600"/>
                  </a:lnTo>
                  <a:lnTo>
                    <a:pt x="1828799" y="1371600"/>
                  </a:lnTo>
                  <a:lnTo>
                    <a:pt x="1864411" y="1364420"/>
                  </a:lnTo>
                  <a:lnTo>
                    <a:pt x="1893474" y="1344834"/>
                  </a:lnTo>
                  <a:lnTo>
                    <a:pt x="1913060" y="1315771"/>
                  </a:lnTo>
                  <a:lnTo>
                    <a:pt x="1920240" y="1280160"/>
                  </a:lnTo>
                  <a:lnTo>
                    <a:pt x="1920240" y="91439"/>
                  </a:lnTo>
                  <a:lnTo>
                    <a:pt x="1913060" y="55828"/>
                  </a:lnTo>
                  <a:lnTo>
                    <a:pt x="1893474" y="26765"/>
                  </a:lnTo>
                  <a:lnTo>
                    <a:pt x="1864411" y="7179"/>
                  </a:lnTo>
                  <a:lnTo>
                    <a:pt x="1828799" y="0"/>
                  </a:lnTo>
                  <a:close/>
                </a:path>
              </a:pathLst>
            </a:custGeom>
            <a:solidFill>
              <a:srgbClr val="EAF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848355" y="1373124"/>
              <a:ext cx="1920239" cy="1371600"/>
            </a:xfrm>
            <a:custGeom>
              <a:avLst/>
              <a:gdLst/>
              <a:ahLst/>
              <a:cxnLst/>
              <a:rect l="l" t="t" r="r" b="b"/>
              <a:pathLst>
                <a:path w="1920239" h="13716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828799" y="0"/>
                  </a:lnTo>
                  <a:lnTo>
                    <a:pt x="1864411" y="7179"/>
                  </a:lnTo>
                  <a:lnTo>
                    <a:pt x="1893474" y="26765"/>
                  </a:lnTo>
                  <a:lnTo>
                    <a:pt x="1913060" y="55828"/>
                  </a:lnTo>
                  <a:lnTo>
                    <a:pt x="1920240" y="91439"/>
                  </a:lnTo>
                  <a:lnTo>
                    <a:pt x="1920240" y="1280160"/>
                  </a:lnTo>
                  <a:lnTo>
                    <a:pt x="1913060" y="1315771"/>
                  </a:lnTo>
                  <a:lnTo>
                    <a:pt x="1893474" y="1344834"/>
                  </a:lnTo>
                  <a:lnTo>
                    <a:pt x="1864411" y="1364420"/>
                  </a:lnTo>
                  <a:lnTo>
                    <a:pt x="1828799" y="1371600"/>
                  </a:lnTo>
                  <a:lnTo>
                    <a:pt x="91439" y="1371600"/>
                  </a:lnTo>
                  <a:lnTo>
                    <a:pt x="55828" y="1364420"/>
                  </a:lnTo>
                  <a:lnTo>
                    <a:pt x="26765" y="1344834"/>
                  </a:lnTo>
                  <a:lnTo>
                    <a:pt x="7179" y="1315771"/>
                  </a:lnTo>
                  <a:lnTo>
                    <a:pt x="0" y="1280160"/>
                  </a:lnTo>
                  <a:lnTo>
                    <a:pt x="0" y="91439"/>
                  </a:lnTo>
                  <a:close/>
                </a:path>
              </a:pathLst>
            </a:custGeom>
            <a:ln w="9144">
              <a:solidFill>
                <a:srgbClr val="D5DF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080385" y="1786509"/>
            <a:ext cx="1451610" cy="5181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Byte</a:t>
            </a:r>
            <a:r>
              <a:rPr dirty="0" sz="1800" spc="-65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F3863"/>
                </a:solidFill>
                <a:latin typeface="Calibri"/>
                <a:cs typeface="Calibri"/>
              </a:rPr>
              <a:t>histogram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256</a:t>
            </a:r>
            <a:r>
              <a:rPr dirty="0" sz="14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counts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61940" y="1740484"/>
            <a:ext cx="18351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 b="1">
                <a:solidFill>
                  <a:srgbClr val="2D75B6"/>
                </a:solidFill>
                <a:latin typeface="Calibri"/>
                <a:cs typeface="Calibri"/>
              </a:rPr>
              <a:t>›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41976" y="1368552"/>
            <a:ext cx="1929764" cy="1381125"/>
            <a:chOff x="5141976" y="1368552"/>
            <a:chExt cx="1929764" cy="1381125"/>
          </a:xfrm>
        </p:grpSpPr>
        <p:sp>
          <p:nvSpPr>
            <p:cNvPr id="14" name="object 14"/>
            <p:cNvSpPr/>
            <p:nvPr/>
          </p:nvSpPr>
          <p:spPr>
            <a:xfrm>
              <a:off x="5146548" y="1373124"/>
              <a:ext cx="1920239" cy="1371600"/>
            </a:xfrm>
            <a:custGeom>
              <a:avLst/>
              <a:gdLst/>
              <a:ahLst/>
              <a:cxnLst/>
              <a:rect l="l" t="t" r="r" b="b"/>
              <a:pathLst>
                <a:path w="1920240" h="1371600">
                  <a:moveTo>
                    <a:pt x="182880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280160"/>
                  </a:lnTo>
                  <a:lnTo>
                    <a:pt x="7179" y="1315771"/>
                  </a:lnTo>
                  <a:lnTo>
                    <a:pt x="26765" y="1344834"/>
                  </a:lnTo>
                  <a:lnTo>
                    <a:pt x="55828" y="1364420"/>
                  </a:lnTo>
                  <a:lnTo>
                    <a:pt x="91439" y="1371600"/>
                  </a:lnTo>
                  <a:lnTo>
                    <a:pt x="1828800" y="1371600"/>
                  </a:lnTo>
                  <a:lnTo>
                    <a:pt x="1864411" y="1364420"/>
                  </a:lnTo>
                  <a:lnTo>
                    <a:pt x="1893474" y="1344834"/>
                  </a:lnTo>
                  <a:lnTo>
                    <a:pt x="1913060" y="1315771"/>
                  </a:lnTo>
                  <a:lnTo>
                    <a:pt x="1920240" y="1280160"/>
                  </a:lnTo>
                  <a:lnTo>
                    <a:pt x="1920240" y="91439"/>
                  </a:lnTo>
                  <a:lnTo>
                    <a:pt x="1913060" y="55828"/>
                  </a:lnTo>
                  <a:lnTo>
                    <a:pt x="1893474" y="26765"/>
                  </a:lnTo>
                  <a:lnTo>
                    <a:pt x="1864411" y="7179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AF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146548" y="1373124"/>
              <a:ext cx="1920239" cy="1371600"/>
            </a:xfrm>
            <a:custGeom>
              <a:avLst/>
              <a:gdLst/>
              <a:ahLst/>
              <a:cxnLst/>
              <a:rect l="l" t="t" r="r" b="b"/>
              <a:pathLst>
                <a:path w="1920240" h="13716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828800" y="0"/>
                  </a:lnTo>
                  <a:lnTo>
                    <a:pt x="1864411" y="7179"/>
                  </a:lnTo>
                  <a:lnTo>
                    <a:pt x="1893474" y="26765"/>
                  </a:lnTo>
                  <a:lnTo>
                    <a:pt x="1913060" y="55828"/>
                  </a:lnTo>
                  <a:lnTo>
                    <a:pt x="1920240" y="91439"/>
                  </a:lnTo>
                  <a:lnTo>
                    <a:pt x="1920240" y="1280160"/>
                  </a:lnTo>
                  <a:lnTo>
                    <a:pt x="1913060" y="1315771"/>
                  </a:lnTo>
                  <a:lnTo>
                    <a:pt x="1893474" y="1344834"/>
                  </a:lnTo>
                  <a:lnTo>
                    <a:pt x="1864411" y="1364420"/>
                  </a:lnTo>
                  <a:lnTo>
                    <a:pt x="1828800" y="1371600"/>
                  </a:lnTo>
                  <a:lnTo>
                    <a:pt x="91439" y="1371600"/>
                  </a:lnTo>
                  <a:lnTo>
                    <a:pt x="55828" y="1364420"/>
                  </a:lnTo>
                  <a:lnTo>
                    <a:pt x="26765" y="1344834"/>
                  </a:lnTo>
                  <a:lnTo>
                    <a:pt x="7179" y="1315771"/>
                  </a:lnTo>
                  <a:lnTo>
                    <a:pt x="0" y="1280160"/>
                  </a:lnTo>
                  <a:lnTo>
                    <a:pt x="0" y="91439"/>
                  </a:lnTo>
                  <a:close/>
                </a:path>
              </a:pathLst>
            </a:custGeom>
            <a:ln w="9143">
              <a:solidFill>
                <a:srgbClr val="D5DF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521833" y="1786509"/>
            <a:ext cx="1167130" cy="5181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F3863"/>
                </a:solidFill>
                <a:latin typeface="Calibri"/>
                <a:cs typeface="Calibri"/>
              </a:rPr>
              <a:t>Normalise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divide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by</a:t>
            </a:r>
            <a:r>
              <a:rPr dirty="0" sz="14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length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59879" y="1740484"/>
            <a:ext cx="18351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 b="1">
                <a:solidFill>
                  <a:srgbClr val="2D75B6"/>
                </a:solidFill>
                <a:latin typeface="Calibri"/>
                <a:cs typeface="Calibri"/>
              </a:rPr>
              <a:t>›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37119" y="1368552"/>
            <a:ext cx="1929764" cy="1381125"/>
            <a:chOff x="7437119" y="1368552"/>
            <a:chExt cx="1929764" cy="1381125"/>
          </a:xfrm>
        </p:grpSpPr>
        <p:sp>
          <p:nvSpPr>
            <p:cNvPr id="19" name="object 19"/>
            <p:cNvSpPr/>
            <p:nvPr/>
          </p:nvSpPr>
          <p:spPr>
            <a:xfrm>
              <a:off x="7441691" y="1373124"/>
              <a:ext cx="1920239" cy="1371600"/>
            </a:xfrm>
            <a:custGeom>
              <a:avLst/>
              <a:gdLst/>
              <a:ahLst/>
              <a:cxnLst/>
              <a:rect l="l" t="t" r="r" b="b"/>
              <a:pathLst>
                <a:path w="1920240" h="1371600">
                  <a:moveTo>
                    <a:pt x="182880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280160"/>
                  </a:lnTo>
                  <a:lnTo>
                    <a:pt x="7179" y="1315771"/>
                  </a:lnTo>
                  <a:lnTo>
                    <a:pt x="26765" y="1344834"/>
                  </a:lnTo>
                  <a:lnTo>
                    <a:pt x="55828" y="1364420"/>
                  </a:lnTo>
                  <a:lnTo>
                    <a:pt x="91439" y="1371600"/>
                  </a:lnTo>
                  <a:lnTo>
                    <a:pt x="1828800" y="1371600"/>
                  </a:lnTo>
                  <a:lnTo>
                    <a:pt x="1864411" y="1364420"/>
                  </a:lnTo>
                  <a:lnTo>
                    <a:pt x="1893474" y="1344834"/>
                  </a:lnTo>
                  <a:lnTo>
                    <a:pt x="1913060" y="1315771"/>
                  </a:lnTo>
                  <a:lnTo>
                    <a:pt x="1920239" y="1280160"/>
                  </a:lnTo>
                  <a:lnTo>
                    <a:pt x="1920239" y="91439"/>
                  </a:lnTo>
                  <a:lnTo>
                    <a:pt x="1913060" y="55828"/>
                  </a:lnTo>
                  <a:lnTo>
                    <a:pt x="1893474" y="26765"/>
                  </a:lnTo>
                  <a:lnTo>
                    <a:pt x="1864411" y="7179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441691" y="1373124"/>
              <a:ext cx="1920239" cy="1371600"/>
            </a:xfrm>
            <a:custGeom>
              <a:avLst/>
              <a:gdLst/>
              <a:ahLst/>
              <a:cxnLst/>
              <a:rect l="l" t="t" r="r" b="b"/>
              <a:pathLst>
                <a:path w="1920240" h="13716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828800" y="0"/>
                  </a:lnTo>
                  <a:lnTo>
                    <a:pt x="1864411" y="7179"/>
                  </a:lnTo>
                  <a:lnTo>
                    <a:pt x="1893474" y="26765"/>
                  </a:lnTo>
                  <a:lnTo>
                    <a:pt x="1913060" y="55828"/>
                  </a:lnTo>
                  <a:lnTo>
                    <a:pt x="1920239" y="91439"/>
                  </a:lnTo>
                  <a:lnTo>
                    <a:pt x="1920239" y="1280160"/>
                  </a:lnTo>
                  <a:lnTo>
                    <a:pt x="1913060" y="1315771"/>
                  </a:lnTo>
                  <a:lnTo>
                    <a:pt x="1893474" y="1344834"/>
                  </a:lnTo>
                  <a:lnTo>
                    <a:pt x="1864411" y="1364420"/>
                  </a:lnTo>
                  <a:lnTo>
                    <a:pt x="1828800" y="1371600"/>
                  </a:lnTo>
                  <a:lnTo>
                    <a:pt x="91439" y="1371600"/>
                  </a:lnTo>
                  <a:lnTo>
                    <a:pt x="55828" y="1364420"/>
                  </a:lnTo>
                  <a:lnTo>
                    <a:pt x="26765" y="1344834"/>
                  </a:lnTo>
                  <a:lnTo>
                    <a:pt x="7179" y="1315771"/>
                  </a:lnTo>
                  <a:lnTo>
                    <a:pt x="0" y="1280160"/>
                  </a:lnTo>
                  <a:lnTo>
                    <a:pt x="0" y="91439"/>
                  </a:lnTo>
                  <a:close/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673467" y="1786509"/>
            <a:ext cx="1457960" cy="5181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Random</a:t>
            </a: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Forest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400">
                <a:solidFill>
                  <a:srgbClr val="D5E3F5"/>
                </a:solidFill>
                <a:latin typeface="Calibri"/>
                <a:cs typeface="Calibri"/>
              </a:rPr>
              <a:t>100</a:t>
            </a:r>
            <a:r>
              <a:rPr dirty="0" sz="1400" spc="-25">
                <a:solidFill>
                  <a:srgbClr val="D5E3F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D5E3F5"/>
                </a:solidFill>
                <a:latin typeface="Calibri"/>
                <a:cs typeface="Calibri"/>
              </a:rPr>
              <a:t>trees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58070" y="1740484"/>
            <a:ext cx="18351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 b="1">
                <a:solidFill>
                  <a:srgbClr val="2D75B6"/>
                </a:solidFill>
                <a:latin typeface="Calibri"/>
                <a:cs typeface="Calibri"/>
              </a:rPr>
              <a:t>›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735311" y="1368552"/>
            <a:ext cx="1929764" cy="1381125"/>
            <a:chOff x="9735311" y="1368552"/>
            <a:chExt cx="1929764" cy="1381125"/>
          </a:xfrm>
        </p:grpSpPr>
        <p:sp>
          <p:nvSpPr>
            <p:cNvPr id="24" name="object 24"/>
            <p:cNvSpPr/>
            <p:nvPr/>
          </p:nvSpPr>
          <p:spPr>
            <a:xfrm>
              <a:off x="9739883" y="1373124"/>
              <a:ext cx="1920239" cy="1371600"/>
            </a:xfrm>
            <a:custGeom>
              <a:avLst/>
              <a:gdLst/>
              <a:ahLst/>
              <a:cxnLst/>
              <a:rect l="l" t="t" r="r" b="b"/>
              <a:pathLst>
                <a:path w="1920240" h="1371600">
                  <a:moveTo>
                    <a:pt x="182880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280160"/>
                  </a:lnTo>
                  <a:lnTo>
                    <a:pt x="7179" y="1315771"/>
                  </a:lnTo>
                  <a:lnTo>
                    <a:pt x="26765" y="1344834"/>
                  </a:lnTo>
                  <a:lnTo>
                    <a:pt x="55828" y="1364420"/>
                  </a:lnTo>
                  <a:lnTo>
                    <a:pt x="91440" y="1371600"/>
                  </a:lnTo>
                  <a:lnTo>
                    <a:pt x="1828800" y="1371600"/>
                  </a:lnTo>
                  <a:lnTo>
                    <a:pt x="1864411" y="1364420"/>
                  </a:lnTo>
                  <a:lnTo>
                    <a:pt x="1893474" y="1344834"/>
                  </a:lnTo>
                  <a:lnTo>
                    <a:pt x="1913060" y="1315771"/>
                  </a:lnTo>
                  <a:lnTo>
                    <a:pt x="1920240" y="1280160"/>
                  </a:lnTo>
                  <a:lnTo>
                    <a:pt x="1920240" y="91439"/>
                  </a:lnTo>
                  <a:lnTo>
                    <a:pt x="1913060" y="55828"/>
                  </a:lnTo>
                  <a:lnTo>
                    <a:pt x="1893474" y="26765"/>
                  </a:lnTo>
                  <a:lnTo>
                    <a:pt x="1864411" y="7179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AF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739883" y="1373124"/>
              <a:ext cx="1920239" cy="1371600"/>
            </a:xfrm>
            <a:custGeom>
              <a:avLst/>
              <a:gdLst/>
              <a:ahLst/>
              <a:cxnLst/>
              <a:rect l="l" t="t" r="r" b="b"/>
              <a:pathLst>
                <a:path w="1920240" h="13716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828800" y="0"/>
                  </a:lnTo>
                  <a:lnTo>
                    <a:pt x="1864411" y="7179"/>
                  </a:lnTo>
                  <a:lnTo>
                    <a:pt x="1893474" y="26765"/>
                  </a:lnTo>
                  <a:lnTo>
                    <a:pt x="1913060" y="55828"/>
                  </a:lnTo>
                  <a:lnTo>
                    <a:pt x="1920240" y="91439"/>
                  </a:lnTo>
                  <a:lnTo>
                    <a:pt x="1920240" y="1280160"/>
                  </a:lnTo>
                  <a:lnTo>
                    <a:pt x="1913060" y="1315771"/>
                  </a:lnTo>
                  <a:lnTo>
                    <a:pt x="1893474" y="1344834"/>
                  </a:lnTo>
                  <a:lnTo>
                    <a:pt x="1864411" y="1364420"/>
                  </a:lnTo>
                  <a:lnTo>
                    <a:pt x="1828800" y="1371600"/>
                  </a:lnTo>
                  <a:lnTo>
                    <a:pt x="91440" y="1371600"/>
                  </a:lnTo>
                  <a:lnTo>
                    <a:pt x="55828" y="1364420"/>
                  </a:lnTo>
                  <a:lnTo>
                    <a:pt x="26765" y="1344834"/>
                  </a:lnTo>
                  <a:lnTo>
                    <a:pt x="7179" y="1315771"/>
                  </a:lnTo>
                  <a:lnTo>
                    <a:pt x="0" y="1280160"/>
                  </a:lnTo>
                  <a:lnTo>
                    <a:pt x="0" y="91439"/>
                  </a:lnTo>
                  <a:close/>
                </a:path>
              </a:pathLst>
            </a:custGeom>
            <a:ln w="9143">
              <a:solidFill>
                <a:srgbClr val="D5DF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0203306" y="1786509"/>
            <a:ext cx="992505" cy="5181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F3863"/>
                </a:solidFill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file</a:t>
            </a:r>
            <a:r>
              <a:rPr dirty="0" sz="14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585858"/>
                </a:solidFill>
                <a:latin typeface="Calibri"/>
                <a:cs typeface="Calibri"/>
              </a:rPr>
              <a:t>type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0163" y="3201923"/>
            <a:ext cx="3566160" cy="2651760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242570" rIns="0" bIns="0" rtlCol="0" vert="horz">
            <a:spAutoFit/>
          </a:bodyPr>
          <a:lstStyle/>
          <a:p>
            <a:pPr marL="273050">
              <a:lnSpc>
                <a:spcPct val="100000"/>
              </a:lnSpc>
              <a:spcBef>
                <a:spcPts val="1910"/>
              </a:spcBef>
            </a:pPr>
            <a:r>
              <a:rPr dirty="0" sz="2000" spc="-10" b="1">
                <a:solidFill>
                  <a:srgbClr val="1F3863"/>
                </a:solidFill>
                <a:latin typeface="Calibri"/>
                <a:cs typeface="Calibri"/>
              </a:rPr>
              <a:t>Libraries</a:t>
            </a:r>
            <a:endParaRPr sz="2000">
              <a:latin typeface="Calibri"/>
              <a:cs typeface="Calibri"/>
            </a:endParaRPr>
          </a:p>
          <a:p>
            <a:pPr marL="273050">
              <a:lnSpc>
                <a:spcPct val="100000"/>
              </a:lnSpc>
              <a:spcBef>
                <a:spcPts val="1340"/>
              </a:spcBef>
            </a:pP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NumPy,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scikit-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learn,</a:t>
            </a:r>
            <a:r>
              <a:rPr dirty="0" sz="1600" spc="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joblib,</a:t>
            </a:r>
            <a:endParaRPr sz="1600">
              <a:latin typeface="Calibri"/>
              <a:cs typeface="Calibri"/>
            </a:endParaRPr>
          </a:p>
          <a:p>
            <a:pPr marL="273050">
              <a:lnSpc>
                <a:spcPct val="100000"/>
              </a:lnSpc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Matplotlib,</a:t>
            </a:r>
            <a:r>
              <a:rPr dirty="0" sz="1600" spc="-8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Seaborn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99203" y="3201923"/>
            <a:ext cx="3566160" cy="2651760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242570" rIns="0" bIns="0" rtlCol="0" vert="horz">
            <a:spAutoFit/>
          </a:bodyPr>
          <a:lstStyle/>
          <a:p>
            <a:pPr marL="273685">
              <a:lnSpc>
                <a:spcPct val="100000"/>
              </a:lnSpc>
              <a:spcBef>
                <a:spcPts val="1910"/>
              </a:spcBef>
            </a:pPr>
            <a:r>
              <a:rPr dirty="0" sz="2000" b="1">
                <a:solidFill>
                  <a:srgbClr val="1F3863"/>
                </a:solidFill>
                <a:latin typeface="Calibri"/>
                <a:cs typeface="Calibri"/>
              </a:rPr>
              <a:t>Why</a:t>
            </a:r>
            <a:r>
              <a:rPr dirty="0" sz="2000" spc="-6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F3863"/>
                </a:solidFill>
                <a:latin typeface="Calibri"/>
                <a:cs typeface="Calibri"/>
              </a:rPr>
              <a:t>Random</a:t>
            </a:r>
            <a:r>
              <a:rPr dirty="0" sz="2000" spc="-8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1F3863"/>
                </a:solidFill>
                <a:latin typeface="Calibri"/>
                <a:cs typeface="Calibri"/>
              </a:rPr>
              <a:t>Forest</a:t>
            </a:r>
            <a:endParaRPr sz="2000">
              <a:latin typeface="Calibri"/>
              <a:cs typeface="Calibri"/>
            </a:endParaRPr>
          </a:p>
          <a:p>
            <a:pPr marL="273685" marR="403225">
              <a:lnSpc>
                <a:spcPct val="100000"/>
              </a:lnSpc>
              <a:spcBef>
                <a:spcPts val="1340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Handles</a:t>
            </a:r>
            <a:r>
              <a:rPr dirty="0" sz="16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256</a:t>
            </a:r>
            <a:r>
              <a:rPr dirty="0" sz="160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numeric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features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with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no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scaling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gives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strong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baseline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fast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048243" y="3201923"/>
            <a:ext cx="3566160" cy="2651760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242570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1910"/>
              </a:spcBef>
            </a:pPr>
            <a:r>
              <a:rPr dirty="0" sz="2000" spc="-10" b="1">
                <a:solidFill>
                  <a:srgbClr val="1F3863"/>
                </a:solidFill>
                <a:latin typeface="Calibri"/>
                <a:cs typeface="Calibri"/>
              </a:rPr>
              <a:t>Validation</a:t>
            </a:r>
            <a:endParaRPr sz="2000">
              <a:latin typeface="Calibri"/>
              <a:cs typeface="Calibri"/>
            </a:endParaRPr>
          </a:p>
          <a:p>
            <a:pPr marL="274320">
              <a:lnSpc>
                <a:spcPct val="100000"/>
              </a:lnSpc>
              <a:spcBef>
                <a:spcPts val="1340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80/20</a:t>
            </a:r>
            <a:r>
              <a:rPr dirty="0" sz="16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stratified</a:t>
            </a:r>
            <a:r>
              <a:rPr dirty="0" sz="1600" spc="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split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(404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train,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101</a:t>
            </a:r>
            <a:endParaRPr sz="1600">
              <a:latin typeface="Calibri"/>
              <a:cs typeface="Calibri"/>
            </a:endParaRPr>
          </a:p>
          <a:p>
            <a:pPr marL="274320">
              <a:lnSpc>
                <a:spcPct val="100000"/>
              </a:lnSpc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test),</a:t>
            </a:r>
            <a:r>
              <a:rPr dirty="0" sz="1600" spc="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random_state</a:t>
            </a:r>
            <a:r>
              <a:rPr dirty="0" sz="16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=</a:t>
            </a:r>
            <a:r>
              <a:rPr dirty="0" sz="16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42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Chandan Kumar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25U020047</a:t>
            </a:r>
            <a:r>
              <a:rPr dirty="0" spc="225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APL Lab</a:t>
            </a:r>
            <a:r>
              <a:rPr dirty="0" spc="5"/>
              <a:t> </a:t>
            </a:r>
            <a:r>
              <a:rPr dirty="0"/>
              <a:t>(CSE-3006)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Group</a:t>
            </a:r>
            <a:r>
              <a:rPr dirty="0" spc="5"/>
              <a:t> </a:t>
            </a:r>
            <a:r>
              <a:rPr dirty="0" spc="-10"/>
              <a:t>Project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Symbol"/>
                <a:cs typeface="Symbol"/>
              </a:rPr>
              <a:t>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/>
              <a:t>Back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Index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 </a:t>
            </a:r>
            <a:r>
              <a:rPr dirty="0"/>
              <a:t>87</a:t>
            </a:r>
            <a:r>
              <a:rPr dirty="0" spc="5"/>
              <a:t> </a:t>
            </a:r>
            <a:r>
              <a:rPr dirty="0"/>
              <a:t>of </a:t>
            </a:r>
            <a:r>
              <a:rPr dirty="0" spc="-25"/>
              <a:t>91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dirty="0" spc="-155"/>
              <a:t> </a:t>
            </a:r>
            <a:r>
              <a:rPr dirty="0" spc="-10"/>
              <a:t>Highlights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544" y="1365503"/>
            <a:ext cx="6047740" cy="4493260"/>
          </a:xfrm>
          <a:prstGeom prst="rect">
            <a:avLst/>
          </a:prstGeom>
          <a:solidFill>
            <a:srgbClr val="1B2A46"/>
          </a:solidFill>
          <a:ln w="3175">
            <a:solidFill>
              <a:srgbClr val="1B2A46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Times New Roman"/>
              <a:cs typeface="Times New Roman"/>
            </a:endParaRPr>
          </a:p>
          <a:p>
            <a:pPr marL="280670">
              <a:lnSpc>
                <a:spcPct val="100000"/>
              </a:lnSpc>
            </a:pPr>
            <a:r>
              <a:rPr dirty="0" sz="1400">
                <a:solidFill>
                  <a:srgbClr val="8FB4E2"/>
                </a:solidFill>
                <a:latin typeface="Courier New"/>
                <a:cs typeface="Courier New"/>
              </a:rPr>
              <a:t>#</a:t>
            </a:r>
            <a:r>
              <a:rPr dirty="0" sz="1400" spc="-35">
                <a:solidFill>
                  <a:srgbClr val="8FB4E2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8FB4E2"/>
                </a:solidFill>
                <a:latin typeface="Courier New"/>
                <a:cs typeface="Courier New"/>
              </a:rPr>
              <a:t>feature</a:t>
            </a:r>
            <a:r>
              <a:rPr dirty="0" sz="1400" spc="-35">
                <a:solidFill>
                  <a:srgbClr val="8FB4E2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8FB4E2"/>
                </a:solidFill>
                <a:latin typeface="Courier New"/>
                <a:cs typeface="Courier New"/>
              </a:rPr>
              <a:t>extraction</a:t>
            </a:r>
            <a:endParaRPr sz="1400">
              <a:latin typeface="Courier New"/>
              <a:cs typeface="Courier New"/>
            </a:endParaRPr>
          </a:p>
          <a:p>
            <a:pPr marL="28067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data</a:t>
            </a:r>
            <a:r>
              <a:rPr dirty="0" sz="140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0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open(path,</a:t>
            </a:r>
            <a:r>
              <a:rPr dirty="0" sz="140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"rb").read()</a:t>
            </a:r>
            <a:endParaRPr sz="1400">
              <a:latin typeface="Courier New"/>
              <a:cs typeface="Courier New"/>
            </a:endParaRPr>
          </a:p>
          <a:p>
            <a:pPr marL="707390" marR="2139315" indent="-42672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features</a:t>
            </a:r>
            <a:r>
              <a:rPr dirty="0" sz="1400" spc="-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00" spc="-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np.bincount(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np.frombuffer(data,</a:t>
            </a:r>
            <a:r>
              <a:rPr dirty="0" sz="1400" spc="-20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np.uint8), minlength=256)</a:t>
            </a:r>
            <a:endParaRPr sz="1400">
              <a:latin typeface="Courier New"/>
              <a:cs typeface="Courier New"/>
            </a:endParaRPr>
          </a:p>
          <a:p>
            <a:pPr marL="28067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features</a:t>
            </a:r>
            <a:r>
              <a:rPr dirty="0" sz="1400" spc="-4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00" spc="-4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features</a:t>
            </a:r>
            <a:r>
              <a:rPr dirty="0" sz="1400" spc="-4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/</a:t>
            </a:r>
            <a:r>
              <a:rPr dirty="0" sz="1400" spc="-4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len(data)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280670">
              <a:lnSpc>
                <a:spcPct val="100000"/>
              </a:lnSpc>
            </a:pPr>
            <a:r>
              <a:rPr dirty="0" sz="1400">
                <a:solidFill>
                  <a:srgbClr val="8FB4E2"/>
                </a:solidFill>
                <a:latin typeface="Courier New"/>
                <a:cs typeface="Courier New"/>
              </a:rPr>
              <a:t>#</a:t>
            </a:r>
            <a:r>
              <a:rPr dirty="0" sz="1400" spc="-35">
                <a:solidFill>
                  <a:srgbClr val="8FB4E2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8FB4E2"/>
                </a:solidFill>
                <a:latin typeface="Courier New"/>
                <a:cs typeface="Courier New"/>
              </a:rPr>
              <a:t>train,</a:t>
            </a:r>
            <a:r>
              <a:rPr dirty="0" sz="1400" spc="-35">
                <a:solidFill>
                  <a:srgbClr val="8FB4E2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8FB4E2"/>
                </a:solidFill>
                <a:latin typeface="Courier New"/>
                <a:cs typeface="Courier New"/>
              </a:rPr>
              <a:t>save,</a:t>
            </a:r>
            <a:r>
              <a:rPr dirty="0" sz="1400" spc="-55">
                <a:solidFill>
                  <a:srgbClr val="8FB4E2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8FB4E2"/>
                </a:solidFill>
                <a:latin typeface="Courier New"/>
                <a:cs typeface="Courier New"/>
              </a:rPr>
              <a:t>reuse</a:t>
            </a:r>
            <a:endParaRPr sz="1400">
              <a:latin typeface="Courier New"/>
              <a:cs typeface="Courier New"/>
            </a:endParaRPr>
          </a:p>
          <a:p>
            <a:pPr marL="28067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model</a:t>
            </a:r>
            <a:r>
              <a:rPr dirty="0" sz="14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RandomForestClassifier(</a:t>
            </a:r>
            <a:endParaRPr sz="1400">
              <a:latin typeface="Courier New"/>
              <a:cs typeface="Courier New"/>
            </a:endParaRPr>
          </a:p>
          <a:p>
            <a:pPr marL="280670" marR="1393825" indent="42672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n_estimators=100,</a:t>
            </a:r>
            <a:r>
              <a:rPr dirty="0" sz="1400" spc="-16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random_state=42)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model.fit(X_train,</a:t>
            </a:r>
            <a:r>
              <a:rPr dirty="0" sz="1400" spc="-17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y_train)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joblib.dump(model,</a:t>
            </a:r>
            <a:r>
              <a:rPr dirty="0" sz="1400" spc="-17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"file_classifier.pkl")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9523" y="1373124"/>
            <a:ext cx="4754880" cy="1005840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200"/>
              </a:spcBef>
            </a:pPr>
            <a:r>
              <a:rPr dirty="0" sz="1600" spc="-10" b="1">
                <a:solidFill>
                  <a:srgbClr val="1F3863"/>
                </a:solidFill>
                <a:latin typeface="Calibri"/>
                <a:cs typeface="Calibri"/>
              </a:rPr>
              <a:t>Size-independent</a:t>
            </a:r>
            <a:r>
              <a:rPr dirty="0" sz="1600" spc="5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F3863"/>
                </a:solidFill>
                <a:latin typeface="Calibri"/>
                <a:cs typeface="Calibri"/>
              </a:rPr>
              <a:t>features</a:t>
            </a:r>
            <a:endParaRPr sz="16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35"/>
              </a:spcBef>
            </a:pP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Dividing</a:t>
            </a:r>
            <a:r>
              <a:rPr dirty="0" sz="1400" spc="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by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length</a:t>
            </a:r>
            <a:r>
              <a:rPr dirty="0" sz="1400" spc="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makes</a:t>
            </a:r>
            <a:r>
              <a:rPr dirty="0" sz="14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4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small</a:t>
            </a:r>
            <a:r>
              <a:rPr dirty="0" sz="14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4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4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large</a:t>
            </a:r>
            <a:r>
              <a:rPr dirty="0" sz="14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file</a:t>
            </a:r>
            <a:r>
              <a:rPr dirty="0" sz="14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of</a:t>
            </a:r>
            <a:r>
              <a:rPr dirty="0" sz="14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585858"/>
                </a:solidFill>
                <a:latin typeface="Calibri"/>
                <a:cs typeface="Calibri"/>
              </a:rPr>
              <a:t>same</a:t>
            </a:r>
            <a:endParaRPr sz="14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type</a:t>
            </a:r>
            <a:r>
              <a:rPr dirty="0" sz="14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look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alike.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9523" y="2516123"/>
            <a:ext cx="4754880" cy="1005840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endParaRPr sz="1600">
              <a:latin typeface="Times New Roman"/>
              <a:cs typeface="Times New Roman"/>
            </a:endParaRPr>
          </a:p>
          <a:p>
            <a:pPr marL="182880">
              <a:lnSpc>
                <a:spcPct val="100000"/>
              </a:lnSpc>
            </a:pPr>
            <a:r>
              <a:rPr dirty="0" sz="1600" b="1">
                <a:solidFill>
                  <a:srgbClr val="1F3863"/>
                </a:solidFill>
                <a:latin typeface="Calibri"/>
                <a:cs typeface="Calibri"/>
              </a:rPr>
              <a:t>Safe</a:t>
            </a:r>
            <a:r>
              <a:rPr dirty="0" sz="1600" spc="-6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F3863"/>
                </a:solidFill>
                <a:latin typeface="Calibri"/>
                <a:cs typeface="Calibri"/>
              </a:rPr>
              <a:t>handling</a:t>
            </a:r>
            <a:endParaRPr sz="16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35"/>
              </a:spcBef>
            </a:pP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Empty</a:t>
            </a:r>
            <a:r>
              <a:rPr dirty="0" sz="14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files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are</a:t>
            </a:r>
            <a:r>
              <a:rPr dirty="0" sz="14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skipped, so</a:t>
            </a:r>
            <a:r>
              <a:rPr dirty="0" sz="1400" spc="-8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no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division</a:t>
            </a:r>
            <a:r>
              <a:rPr dirty="0" sz="14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by</a:t>
            </a:r>
            <a:r>
              <a:rPr dirty="0" sz="14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zero.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59523" y="3659123"/>
            <a:ext cx="4754880" cy="1005840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153670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210"/>
              </a:spcBef>
            </a:pPr>
            <a:r>
              <a:rPr dirty="0" sz="1600" b="1">
                <a:solidFill>
                  <a:srgbClr val="1F3863"/>
                </a:solidFill>
                <a:latin typeface="Calibri"/>
                <a:cs typeface="Calibri"/>
              </a:rPr>
              <a:t>Reusable</a:t>
            </a:r>
            <a:r>
              <a:rPr dirty="0" sz="1600" spc="-7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1F3863"/>
                </a:solidFill>
                <a:latin typeface="Calibri"/>
                <a:cs typeface="Calibri"/>
              </a:rPr>
              <a:t>model</a:t>
            </a:r>
            <a:endParaRPr sz="16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30"/>
              </a:spcBef>
            </a:pP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Saved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with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joblib;</a:t>
            </a:r>
            <a:r>
              <a:rPr dirty="0" sz="14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an</a:t>
            </a:r>
            <a:r>
              <a:rPr dirty="0" sz="14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uploaded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screenshot</a:t>
            </a:r>
            <a:r>
              <a:rPr dirty="0" sz="14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was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correctly</a:t>
            </a:r>
            <a:endParaRPr sz="14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predicted</a:t>
            </a:r>
            <a:r>
              <a:rPr dirty="0" sz="1400" spc="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as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585858"/>
                </a:solidFill>
                <a:latin typeface="Calibri"/>
                <a:cs typeface="Calibri"/>
              </a:rPr>
              <a:t>PNG.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9523" y="4802123"/>
            <a:ext cx="4754880" cy="1005840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1600">
              <a:latin typeface="Times New Roman"/>
              <a:cs typeface="Times New Roman"/>
            </a:endParaRPr>
          </a:p>
          <a:p>
            <a:pPr marL="182880">
              <a:lnSpc>
                <a:spcPct val="100000"/>
              </a:lnSpc>
            </a:pPr>
            <a:r>
              <a:rPr dirty="0" sz="1600" b="1">
                <a:solidFill>
                  <a:srgbClr val="1F3863"/>
                </a:solidFill>
                <a:latin typeface="Calibri"/>
                <a:cs typeface="Calibri"/>
              </a:rPr>
              <a:t>No</a:t>
            </a:r>
            <a:r>
              <a:rPr dirty="0" sz="1600" spc="-25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F3863"/>
                </a:solidFill>
                <a:latin typeface="Calibri"/>
                <a:cs typeface="Calibri"/>
              </a:rPr>
              <a:t>tuning</a:t>
            </a:r>
            <a:r>
              <a:rPr dirty="0" sz="1600" spc="-5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600" spc="-25" b="1">
                <a:solidFill>
                  <a:srgbClr val="1F3863"/>
                </a:solidFill>
                <a:latin typeface="Calibri"/>
                <a:cs typeface="Calibri"/>
              </a:rPr>
              <a:t>yet</a:t>
            </a:r>
            <a:endParaRPr sz="16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30"/>
              </a:spcBef>
            </a:pP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Default</a:t>
            </a:r>
            <a:r>
              <a:rPr dirty="0" sz="14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forest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settings,</a:t>
            </a:r>
            <a:r>
              <a:rPr dirty="0" sz="1400" spc="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so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there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is</a:t>
            </a:r>
            <a:r>
              <a:rPr dirty="0" sz="14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room</a:t>
            </a:r>
            <a:r>
              <a:rPr dirty="0" sz="14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to</a:t>
            </a:r>
            <a:r>
              <a:rPr dirty="0" sz="14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improve.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Chandan Kumar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25U020047</a:t>
            </a:r>
            <a:r>
              <a:rPr dirty="0" spc="225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APL Lab</a:t>
            </a:r>
            <a:r>
              <a:rPr dirty="0" spc="5"/>
              <a:t> </a:t>
            </a:r>
            <a:r>
              <a:rPr dirty="0"/>
              <a:t>(CSE-3006)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Group</a:t>
            </a:r>
            <a:r>
              <a:rPr dirty="0" spc="5"/>
              <a:t> </a:t>
            </a:r>
            <a:r>
              <a:rPr dirty="0" spc="-10"/>
              <a:t>Project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Symbol"/>
                <a:cs typeface="Symbol"/>
              </a:rPr>
              <a:t>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/>
              <a:t>Back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Index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 </a:t>
            </a:r>
            <a:r>
              <a:rPr dirty="0"/>
              <a:t>88</a:t>
            </a:r>
            <a:r>
              <a:rPr dirty="0" spc="5"/>
              <a:t> </a:t>
            </a:r>
            <a:r>
              <a:rPr dirty="0"/>
              <a:t>of </a:t>
            </a:r>
            <a:r>
              <a:rPr dirty="0" spc="-25"/>
              <a:t>91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0163" y="1373124"/>
            <a:ext cx="3017520" cy="1920239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184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55"/>
              </a:spcBef>
            </a:pPr>
            <a:r>
              <a:rPr dirty="0" sz="5400" spc="-10" b="1">
                <a:solidFill>
                  <a:srgbClr val="1F3863"/>
                </a:solidFill>
                <a:latin typeface="Calibri"/>
                <a:cs typeface="Calibri"/>
              </a:rPr>
              <a:t>89.1%</a:t>
            </a:r>
            <a:endParaRPr sz="5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150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test</a:t>
            </a:r>
            <a:r>
              <a:rPr dirty="0" sz="16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accuracy</a:t>
            </a:r>
            <a:r>
              <a:rPr dirty="0" sz="16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(90</a:t>
            </a:r>
            <a:r>
              <a:rPr dirty="0" sz="16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of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101)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16246" y="1351280"/>
            <a:ext cx="140081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1F3863"/>
                </a:solidFill>
                <a:latin typeface="Calibri"/>
                <a:cs typeface="Calibri"/>
              </a:rPr>
              <a:t>F1-</a:t>
            </a:r>
            <a:r>
              <a:rPr dirty="0" sz="1600" spc="-10">
                <a:solidFill>
                  <a:srgbClr val="1F3863"/>
                </a:solidFill>
                <a:latin typeface="Calibri"/>
                <a:cs typeface="Calibri"/>
              </a:rPr>
              <a:t>score</a:t>
            </a:r>
            <a:r>
              <a:rPr dirty="0" sz="1600" spc="-35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863"/>
                </a:solidFill>
                <a:latin typeface="Calibri"/>
                <a:cs typeface="Calibri"/>
              </a:rPr>
              <a:t>by</a:t>
            </a:r>
            <a:r>
              <a:rPr dirty="0" sz="1600" spc="-3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F3863"/>
                </a:solidFill>
                <a:latin typeface="Calibri"/>
                <a:cs typeface="Calibri"/>
              </a:rPr>
              <a:t>class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65245" y="2065146"/>
            <a:ext cx="2520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TXT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163" y="3476244"/>
            <a:ext cx="3017520" cy="2377440"/>
          </a:xfrm>
          <a:prstGeom prst="rect">
            <a:avLst/>
          </a:prstGeom>
          <a:solidFill>
            <a:srgbClr val="EAF0F8"/>
          </a:solidFill>
          <a:ln w="9144">
            <a:solidFill>
              <a:srgbClr val="D5DFEB"/>
            </a:solidFill>
          </a:ln>
        </p:spPr>
        <p:txBody>
          <a:bodyPr wrap="square" lIns="0" tIns="167005" rIns="0" bIns="0" rtlCol="0" vert="horz">
            <a:spAutoFit/>
          </a:bodyPr>
          <a:lstStyle/>
          <a:p>
            <a:pPr marL="227329">
              <a:lnSpc>
                <a:spcPct val="100000"/>
              </a:lnSpc>
              <a:spcBef>
                <a:spcPts val="1315"/>
              </a:spcBef>
            </a:pPr>
            <a:r>
              <a:rPr dirty="0" sz="2000" spc="-10" b="1">
                <a:solidFill>
                  <a:srgbClr val="1F3863"/>
                </a:solidFill>
                <a:latin typeface="Calibri"/>
                <a:cs typeface="Calibri"/>
              </a:rPr>
              <a:t>Baseline</a:t>
            </a:r>
            <a:endParaRPr sz="2000">
              <a:latin typeface="Calibri"/>
              <a:cs typeface="Calibri"/>
            </a:endParaRPr>
          </a:p>
          <a:p>
            <a:pPr marL="227329" marR="231140">
              <a:lnSpc>
                <a:spcPct val="100000"/>
              </a:lnSpc>
              <a:spcBef>
                <a:spcPts val="615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Random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guessing</a:t>
            </a:r>
            <a:r>
              <a:rPr dirty="0" sz="160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across</a:t>
            </a:r>
            <a:r>
              <a:rPr dirty="0" sz="1600" spc="-50">
                <a:solidFill>
                  <a:srgbClr val="585858"/>
                </a:solidFill>
                <a:latin typeface="Calibri"/>
                <a:cs typeface="Calibri"/>
              </a:rPr>
              <a:t> 5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balanced</a:t>
            </a:r>
            <a:r>
              <a:rPr dirty="0" sz="16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classes</a:t>
            </a:r>
            <a:r>
              <a:rPr dirty="0" sz="16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gives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20%.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model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is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about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4.5x</a:t>
            </a:r>
            <a:r>
              <a:rPr dirty="0" sz="16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better.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97096" y="1776983"/>
            <a:ext cx="2984500" cy="4032885"/>
            <a:chOff x="4197096" y="1776983"/>
            <a:chExt cx="2984500" cy="4032885"/>
          </a:xfrm>
        </p:grpSpPr>
        <p:sp>
          <p:nvSpPr>
            <p:cNvPr id="6" name="object 6"/>
            <p:cNvSpPr/>
            <p:nvPr/>
          </p:nvSpPr>
          <p:spPr>
            <a:xfrm>
              <a:off x="4245864" y="2023871"/>
              <a:ext cx="2935605" cy="3538854"/>
            </a:xfrm>
            <a:custGeom>
              <a:avLst/>
              <a:gdLst/>
              <a:ahLst/>
              <a:cxnLst/>
              <a:rect l="l" t="t" r="r" b="b"/>
              <a:pathLst>
                <a:path w="2935604" h="3538854">
                  <a:moveTo>
                    <a:pt x="2545080" y="3215640"/>
                  </a:moveTo>
                  <a:lnTo>
                    <a:pt x="0" y="3215640"/>
                  </a:lnTo>
                  <a:lnTo>
                    <a:pt x="0" y="3538728"/>
                  </a:lnTo>
                  <a:lnTo>
                    <a:pt x="2545080" y="3538728"/>
                  </a:lnTo>
                  <a:lnTo>
                    <a:pt x="2545080" y="3215640"/>
                  </a:lnTo>
                  <a:close/>
                </a:path>
                <a:path w="2935604" h="3538854">
                  <a:moveTo>
                    <a:pt x="2575560" y="2414016"/>
                  </a:moveTo>
                  <a:lnTo>
                    <a:pt x="0" y="2414016"/>
                  </a:lnTo>
                  <a:lnTo>
                    <a:pt x="0" y="2734056"/>
                  </a:lnTo>
                  <a:lnTo>
                    <a:pt x="2575560" y="2734056"/>
                  </a:lnTo>
                  <a:lnTo>
                    <a:pt x="2575560" y="2414016"/>
                  </a:lnTo>
                  <a:close/>
                </a:path>
                <a:path w="2935604" h="3538854">
                  <a:moveTo>
                    <a:pt x="2636520" y="1609344"/>
                  </a:moveTo>
                  <a:lnTo>
                    <a:pt x="0" y="1609344"/>
                  </a:lnTo>
                  <a:lnTo>
                    <a:pt x="0" y="1929384"/>
                  </a:lnTo>
                  <a:lnTo>
                    <a:pt x="2636520" y="1929384"/>
                  </a:lnTo>
                  <a:lnTo>
                    <a:pt x="2636520" y="1609344"/>
                  </a:lnTo>
                  <a:close/>
                </a:path>
                <a:path w="2935604" h="3538854">
                  <a:moveTo>
                    <a:pt x="2667000" y="804672"/>
                  </a:moveTo>
                  <a:lnTo>
                    <a:pt x="0" y="804672"/>
                  </a:lnTo>
                  <a:lnTo>
                    <a:pt x="0" y="1124712"/>
                  </a:lnTo>
                  <a:lnTo>
                    <a:pt x="2667000" y="1124712"/>
                  </a:lnTo>
                  <a:lnTo>
                    <a:pt x="2667000" y="804672"/>
                  </a:lnTo>
                  <a:close/>
                </a:path>
                <a:path w="2935604" h="3538854">
                  <a:moveTo>
                    <a:pt x="2935224" y="0"/>
                  </a:moveTo>
                  <a:lnTo>
                    <a:pt x="0" y="0"/>
                  </a:lnTo>
                  <a:lnTo>
                    <a:pt x="0" y="320040"/>
                  </a:lnTo>
                  <a:lnTo>
                    <a:pt x="2935224" y="320040"/>
                  </a:lnTo>
                  <a:lnTo>
                    <a:pt x="2935224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97096" y="1783079"/>
              <a:ext cx="48895" cy="4020820"/>
            </a:xfrm>
            <a:custGeom>
              <a:avLst/>
              <a:gdLst/>
              <a:ahLst/>
              <a:cxnLst/>
              <a:rect l="l" t="t" r="r" b="b"/>
              <a:pathLst>
                <a:path w="48895" h="4020820">
                  <a:moveTo>
                    <a:pt x="48767" y="0"/>
                  </a:moveTo>
                  <a:lnTo>
                    <a:pt x="48767" y="4020312"/>
                  </a:lnTo>
                </a:path>
                <a:path w="48895" h="4020820">
                  <a:moveTo>
                    <a:pt x="0" y="0"/>
                  </a:moveTo>
                  <a:lnTo>
                    <a:pt x="48767" y="0"/>
                  </a:lnTo>
                </a:path>
                <a:path w="48895" h="4020820">
                  <a:moveTo>
                    <a:pt x="0" y="804672"/>
                  </a:moveTo>
                  <a:lnTo>
                    <a:pt x="48767" y="804672"/>
                  </a:lnTo>
                </a:path>
                <a:path w="48895" h="4020820">
                  <a:moveTo>
                    <a:pt x="0" y="1606296"/>
                  </a:moveTo>
                  <a:lnTo>
                    <a:pt x="48767" y="1606296"/>
                  </a:lnTo>
                </a:path>
                <a:path w="48895" h="4020820">
                  <a:moveTo>
                    <a:pt x="0" y="2410968"/>
                  </a:moveTo>
                  <a:lnTo>
                    <a:pt x="48767" y="2410968"/>
                  </a:lnTo>
                </a:path>
                <a:path w="48895" h="4020820">
                  <a:moveTo>
                    <a:pt x="0" y="3215640"/>
                  </a:moveTo>
                  <a:lnTo>
                    <a:pt x="48767" y="3215640"/>
                  </a:lnTo>
                </a:path>
                <a:path w="48895" h="4020820">
                  <a:moveTo>
                    <a:pt x="0" y="4020312"/>
                  </a:moveTo>
                  <a:lnTo>
                    <a:pt x="48767" y="4020312"/>
                  </a:lnTo>
                </a:path>
              </a:pathLst>
            </a:custGeom>
            <a:ln w="12192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246366" y="2073655"/>
            <a:ext cx="2946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0.98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50640" y="2869819"/>
            <a:ext cx="2692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PDF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76998" y="2878328"/>
            <a:ext cx="2946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0.89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9905" y="3674186"/>
            <a:ext cx="29908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PNG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46772" y="3683000"/>
            <a:ext cx="2946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0.88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3840" y="1463039"/>
            <a:ext cx="3739500" cy="312989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69563" y="4479417"/>
            <a:ext cx="24955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JPG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87082" y="4487671"/>
            <a:ext cx="2946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0.86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52918" y="4689170"/>
            <a:ext cx="30892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Most</a:t>
            </a:r>
            <a:r>
              <a:rPr dirty="0" sz="14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errors</a:t>
            </a:r>
            <a:r>
              <a:rPr dirty="0" sz="14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involve</a:t>
            </a:r>
            <a:r>
              <a:rPr dirty="0" sz="1400" spc="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JPG: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PDFs</a:t>
            </a:r>
            <a:r>
              <a:rPr dirty="0" sz="14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GIFs</a:t>
            </a:r>
            <a:r>
              <a:rPr dirty="0" sz="1400" spc="-7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585858"/>
                </a:solidFill>
                <a:latin typeface="Calibri"/>
                <a:cs typeface="Calibri"/>
              </a:rPr>
              <a:t>are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sometimes</a:t>
            </a:r>
            <a:r>
              <a:rPr dirty="0" sz="1400" spc="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read</a:t>
            </a:r>
            <a:r>
              <a:rPr dirty="0" sz="14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as</a:t>
            </a:r>
            <a:r>
              <a:rPr dirty="0" sz="14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JPG,</a:t>
            </a:r>
            <a:r>
              <a:rPr dirty="0" sz="14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PNGs</a:t>
            </a:r>
            <a:r>
              <a:rPr dirty="0" sz="14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as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585858"/>
                </a:solidFill>
                <a:latin typeface="Calibri"/>
                <a:cs typeface="Calibri"/>
              </a:rPr>
              <a:t>GIF.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88485" y="5284089"/>
            <a:ext cx="229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GIF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56856" y="5292344"/>
            <a:ext cx="2959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0.85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Chandan Kumar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25U020047</a:t>
            </a:r>
            <a:r>
              <a:rPr dirty="0" spc="225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APL Lab</a:t>
            </a:r>
            <a:r>
              <a:rPr dirty="0" spc="5"/>
              <a:t> </a:t>
            </a:r>
            <a:r>
              <a:rPr dirty="0"/>
              <a:t>(CSE-3006)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Group</a:t>
            </a:r>
            <a:r>
              <a:rPr dirty="0" spc="5"/>
              <a:t> </a:t>
            </a:r>
            <a:r>
              <a:rPr dirty="0" spc="-10"/>
              <a:t>Project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Symbol"/>
                <a:cs typeface="Symbol"/>
              </a:rPr>
              <a:t>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/>
              <a:t>Back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Index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 </a:t>
            </a:r>
            <a:r>
              <a:rPr dirty="0"/>
              <a:t>89</a:t>
            </a:r>
            <a:r>
              <a:rPr dirty="0" spc="5"/>
              <a:t> </a:t>
            </a:r>
            <a:r>
              <a:rPr dirty="0"/>
              <a:t>of </a:t>
            </a:r>
            <a:r>
              <a:rPr dirty="0" spc="-25"/>
              <a:t>91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/>
              <a:t>Future</a:t>
            </a:r>
            <a:r>
              <a:rPr dirty="0" spc="-30"/>
              <a:t> </a:t>
            </a:r>
            <a:r>
              <a:rPr dirty="0" spc="-20"/>
              <a:t>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5591" y="1368552"/>
            <a:ext cx="3575685" cy="3758565"/>
            <a:chOff x="545591" y="1368552"/>
            <a:chExt cx="3575685" cy="3758565"/>
          </a:xfrm>
        </p:grpSpPr>
        <p:sp>
          <p:nvSpPr>
            <p:cNvPr id="4" name="object 4"/>
            <p:cNvSpPr/>
            <p:nvPr/>
          </p:nvSpPr>
          <p:spPr>
            <a:xfrm>
              <a:off x="550163" y="1373124"/>
              <a:ext cx="3566160" cy="3749040"/>
            </a:xfrm>
            <a:custGeom>
              <a:avLst/>
              <a:gdLst/>
              <a:ahLst/>
              <a:cxnLst/>
              <a:rect l="l" t="t" r="r" b="b"/>
              <a:pathLst>
                <a:path w="3566160" h="3749040">
                  <a:moveTo>
                    <a:pt x="3566160" y="0"/>
                  </a:moveTo>
                  <a:lnTo>
                    <a:pt x="0" y="0"/>
                  </a:lnTo>
                  <a:lnTo>
                    <a:pt x="0" y="3749040"/>
                  </a:lnTo>
                  <a:lnTo>
                    <a:pt x="3566160" y="3749040"/>
                  </a:lnTo>
                  <a:lnTo>
                    <a:pt x="3566160" y="0"/>
                  </a:lnTo>
                  <a:close/>
                </a:path>
              </a:pathLst>
            </a:custGeom>
            <a:solidFill>
              <a:srgbClr val="EAF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50163" y="1373124"/>
              <a:ext cx="3566160" cy="3749040"/>
            </a:xfrm>
            <a:custGeom>
              <a:avLst/>
              <a:gdLst/>
              <a:ahLst/>
              <a:cxnLst/>
              <a:rect l="l" t="t" r="r" b="b"/>
              <a:pathLst>
                <a:path w="3566160" h="3749040">
                  <a:moveTo>
                    <a:pt x="0" y="3749040"/>
                  </a:moveTo>
                  <a:lnTo>
                    <a:pt x="3566160" y="3749040"/>
                  </a:lnTo>
                  <a:lnTo>
                    <a:pt x="3566160" y="0"/>
                  </a:lnTo>
                  <a:lnTo>
                    <a:pt x="0" y="0"/>
                  </a:lnTo>
                  <a:lnTo>
                    <a:pt x="0" y="3749040"/>
                  </a:lnTo>
                  <a:close/>
                </a:path>
              </a:pathLst>
            </a:custGeom>
            <a:ln w="9144">
              <a:solidFill>
                <a:srgbClr val="D5DF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22959" y="16459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22959" y="16459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4" y="139624"/>
                  </a:lnTo>
                  <a:lnTo>
                    <a:pt x="39041" y="100793"/>
                  </a:lnTo>
                  <a:lnTo>
                    <a:pt x="66955" y="66960"/>
                  </a:lnTo>
                  <a:lnTo>
                    <a:pt x="100788" y="39045"/>
                  </a:lnTo>
                  <a:lnTo>
                    <a:pt x="139619" y="17966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0" y="17966"/>
                  </a:lnTo>
                  <a:lnTo>
                    <a:pt x="356411" y="39045"/>
                  </a:lnTo>
                  <a:lnTo>
                    <a:pt x="390244" y="66960"/>
                  </a:lnTo>
                  <a:lnTo>
                    <a:pt x="418158" y="100793"/>
                  </a:lnTo>
                  <a:lnTo>
                    <a:pt x="439235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5" y="317575"/>
                  </a:lnTo>
                  <a:lnTo>
                    <a:pt x="418158" y="356406"/>
                  </a:lnTo>
                  <a:lnTo>
                    <a:pt x="390244" y="390239"/>
                  </a:lnTo>
                  <a:lnTo>
                    <a:pt x="356411" y="418154"/>
                  </a:lnTo>
                  <a:lnTo>
                    <a:pt x="317580" y="439233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3"/>
                  </a:lnTo>
                  <a:lnTo>
                    <a:pt x="100788" y="418154"/>
                  </a:lnTo>
                  <a:lnTo>
                    <a:pt x="66955" y="390239"/>
                  </a:lnTo>
                  <a:lnTo>
                    <a:pt x="39041" y="356406"/>
                  </a:lnTo>
                  <a:lnTo>
                    <a:pt x="17964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00048" y="1725549"/>
            <a:ext cx="11620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3294" y="1695069"/>
            <a:ext cx="97663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spc="-10" b="1">
                <a:solidFill>
                  <a:srgbClr val="1F3863"/>
                </a:solidFill>
                <a:latin typeface="Calibri"/>
                <a:cs typeface="Calibri"/>
              </a:rPr>
              <a:t>Achieved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3264" y="2259330"/>
            <a:ext cx="2961005" cy="758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simple</a:t>
            </a:r>
            <a:r>
              <a:rPr dirty="0" sz="16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256-number</a:t>
            </a:r>
            <a:r>
              <a:rPr dirty="0" sz="16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byte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histogram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is</a:t>
            </a:r>
            <a:r>
              <a:rPr dirty="0" sz="16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enough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to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reach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 89.1% accuracy.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3264" y="3387038"/>
            <a:ext cx="2779395" cy="758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10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TXT</a:t>
            </a:r>
            <a:r>
              <a:rPr dirty="0" sz="1600" spc="-9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was</a:t>
            </a:r>
            <a:r>
              <a:rPr dirty="0" sz="160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classified</a:t>
            </a:r>
            <a:r>
              <a:rPr dirty="0" sz="16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perfectly;</a:t>
            </a:r>
            <a:r>
              <a:rPr dirty="0" sz="16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the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model</a:t>
            </a:r>
            <a:r>
              <a:rPr dirty="0" sz="16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is</a:t>
            </a:r>
            <a:r>
              <a:rPr dirty="0" sz="16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saved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6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works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on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new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uploads.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94632" y="1368552"/>
            <a:ext cx="3575685" cy="3758565"/>
            <a:chOff x="4294632" y="1368552"/>
            <a:chExt cx="3575685" cy="3758565"/>
          </a:xfrm>
        </p:grpSpPr>
        <p:sp>
          <p:nvSpPr>
            <p:cNvPr id="13" name="object 13"/>
            <p:cNvSpPr/>
            <p:nvPr/>
          </p:nvSpPr>
          <p:spPr>
            <a:xfrm>
              <a:off x="4299204" y="1373124"/>
              <a:ext cx="3566160" cy="3749040"/>
            </a:xfrm>
            <a:custGeom>
              <a:avLst/>
              <a:gdLst/>
              <a:ahLst/>
              <a:cxnLst/>
              <a:rect l="l" t="t" r="r" b="b"/>
              <a:pathLst>
                <a:path w="3566159" h="3749040">
                  <a:moveTo>
                    <a:pt x="3566159" y="0"/>
                  </a:moveTo>
                  <a:lnTo>
                    <a:pt x="0" y="0"/>
                  </a:lnTo>
                  <a:lnTo>
                    <a:pt x="0" y="3749040"/>
                  </a:lnTo>
                  <a:lnTo>
                    <a:pt x="3566159" y="3749040"/>
                  </a:lnTo>
                  <a:lnTo>
                    <a:pt x="3566159" y="0"/>
                  </a:lnTo>
                  <a:close/>
                </a:path>
              </a:pathLst>
            </a:custGeom>
            <a:solidFill>
              <a:srgbClr val="EAF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299204" y="1373124"/>
              <a:ext cx="3566160" cy="3749040"/>
            </a:xfrm>
            <a:custGeom>
              <a:avLst/>
              <a:gdLst/>
              <a:ahLst/>
              <a:cxnLst/>
              <a:rect l="l" t="t" r="r" b="b"/>
              <a:pathLst>
                <a:path w="3566159" h="3749040">
                  <a:moveTo>
                    <a:pt x="0" y="3749040"/>
                  </a:moveTo>
                  <a:lnTo>
                    <a:pt x="3566159" y="3749040"/>
                  </a:lnTo>
                  <a:lnTo>
                    <a:pt x="3566159" y="0"/>
                  </a:lnTo>
                  <a:lnTo>
                    <a:pt x="0" y="0"/>
                  </a:lnTo>
                  <a:lnTo>
                    <a:pt x="0" y="3749040"/>
                  </a:lnTo>
                  <a:close/>
                </a:path>
              </a:pathLst>
            </a:custGeom>
            <a:ln w="9144">
              <a:solidFill>
                <a:srgbClr val="D5DF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72000" y="16459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72000" y="16459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750053" y="1725549"/>
            <a:ext cx="11620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13350" y="1695069"/>
            <a:ext cx="118046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spc="-10" b="1">
                <a:solidFill>
                  <a:srgbClr val="1F3863"/>
                </a:solidFill>
                <a:latin typeface="Calibri"/>
                <a:cs typeface="Calibri"/>
              </a:rPr>
              <a:t>Limitations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3270" y="2259330"/>
            <a:ext cx="26689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Small</a:t>
            </a:r>
            <a:r>
              <a:rPr dirty="0" sz="16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dataset:</a:t>
            </a:r>
            <a:r>
              <a:rPr dirty="0" sz="1600" spc="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505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files,</a:t>
            </a:r>
            <a:r>
              <a:rPr dirty="0" sz="1600" spc="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101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test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samples.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73270" y="3143504"/>
            <a:ext cx="2712720" cy="758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R="508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Compressed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image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PDF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data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look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statistically</a:t>
            </a:r>
            <a:r>
              <a:rPr dirty="0" sz="1600" spc="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similar,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so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some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mix-ups</a:t>
            </a:r>
            <a:r>
              <a:rPr dirty="0" sz="16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remain.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73270" y="4271898"/>
            <a:ext cx="128079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Only 5</a:t>
            </a:r>
            <a:r>
              <a:rPr dirty="0" sz="16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formats.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043671" y="1368552"/>
            <a:ext cx="3575685" cy="3758565"/>
            <a:chOff x="8043671" y="1368552"/>
            <a:chExt cx="3575685" cy="3758565"/>
          </a:xfrm>
        </p:grpSpPr>
        <p:sp>
          <p:nvSpPr>
            <p:cNvPr id="23" name="object 23"/>
            <p:cNvSpPr/>
            <p:nvPr/>
          </p:nvSpPr>
          <p:spPr>
            <a:xfrm>
              <a:off x="8048243" y="1373124"/>
              <a:ext cx="3566160" cy="3749040"/>
            </a:xfrm>
            <a:custGeom>
              <a:avLst/>
              <a:gdLst/>
              <a:ahLst/>
              <a:cxnLst/>
              <a:rect l="l" t="t" r="r" b="b"/>
              <a:pathLst>
                <a:path w="3566159" h="3749040">
                  <a:moveTo>
                    <a:pt x="3566159" y="0"/>
                  </a:moveTo>
                  <a:lnTo>
                    <a:pt x="0" y="0"/>
                  </a:lnTo>
                  <a:lnTo>
                    <a:pt x="0" y="3749040"/>
                  </a:lnTo>
                  <a:lnTo>
                    <a:pt x="3566159" y="3749040"/>
                  </a:lnTo>
                  <a:lnTo>
                    <a:pt x="3566159" y="0"/>
                  </a:lnTo>
                  <a:close/>
                </a:path>
              </a:pathLst>
            </a:custGeom>
            <a:solidFill>
              <a:srgbClr val="EAF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048243" y="1373124"/>
              <a:ext cx="3566160" cy="3749040"/>
            </a:xfrm>
            <a:custGeom>
              <a:avLst/>
              <a:gdLst/>
              <a:ahLst/>
              <a:cxnLst/>
              <a:rect l="l" t="t" r="r" b="b"/>
              <a:pathLst>
                <a:path w="3566159" h="3749040">
                  <a:moveTo>
                    <a:pt x="0" y="3749040"/>
                  </a:moveTo>
                  <a:lnTo>
                    <a:pt x="3566159" y="3749040"/>
                  </a:lnTo>
                  <a:lnTo>
                    <a:pt x="3566159" y="0"/>
                  </a:lnTo>
                  <a:lnTo>
                    <a:pt x="0" y="0"/>
                  </a:lnTo>
                  <a:lnTo>
                    <a:pt x="0" y="3749040"/>
                  </a:lnTo>
                  <a:close/>
                </a:path>
              </a:pathLst>
            </a:custGeom>
            <a:ln w="9144">
              <a:solidFill>
                <a:srgbClr val="D5DF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321039" y="16459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321039" y="16459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192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499982" y="1725549"/>
            <a:ext cx="11620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63279" y="1695069"/>
            <a:ext cx="111569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solidFill>
                  <a:srgbClr val="1F3863"/>
                </a:solidFill>
                <a:latin typeface="Calibri"/>
                <a:cs typeface="Calibri"/>
              </a:rPr>
              <a:t>Next</a:t>
            </a:r>
            <a:r>
              <a:rPr dirty="0" sz="2000" spc="-55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1F3863"/>
                </a:solidFill>
                <a:latin typeface="Calibri"/>
                <a:cs typeface="Calibri"/>
              </a:rPr>
              <a:t>steps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23198" y="2259330"/>
            <a:ext cx="27228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Add</a:t>
            </a:r>
            <a:r>
              <a:rPr dirty="0" sz="1600" spc="-7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byte-pair,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entropy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600" spc="-7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file-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header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(magic</a:t>
            </a:r>
            <a:r>
              <a:rPr dirty="0" sz="1600" spc="-6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number)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features.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23198" y="3143504"/>
            <a:ext cx="3006725" cy="51498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Tune</a:t>
            </a:r>
            <a:r>
              <a:rPr dirty="0" sz="1600" spc="-7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hyperparameters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compare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other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models.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23198" y="4027373"/>
            <a:ext cx="2686685" cy="5149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Cover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more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formats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larger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dataset.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Chandan Kumar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25U020047</a:t>
            </a:r>
            <a:r>
              <a:rPr dirty="0" spc="225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APL Lab</a:t>
            </a:r>
            <a:r>
              <a:rPr dirty="0" spc="5"/>
              <a:t> </a:t>
            </a:r>
            <a:r>
              <a:rPr dirty="0"/>
              <a:t>(CSE-3006)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Group</a:t>
            </a:r>
            <a:r>
              <a:rPr dirty="0" spc="5"/>
              <a:t> </a:t>
            </a:r>
            <a:r>
              <a:rPr dirty="0" spc="-10"/>
              <a:t>Project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Symbol"/>
                <a:cs typeface="Symbol"/>
              </a:rPr>
              <a:t>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/>
              <a:t>Back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Index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 </a:t>
            </a:r>
            <a:r>
              <a:rPr dirty="0"/>
              <a:t>90</a:t>
            </a:r>
            <a:r>
              <a:rPr dirty="0" spc="5"/>
              <a:t> </a:t>
            </a:r>
            <a:r>
              <a:rPr dirty="0"/>
              <a:t>of </a:t>
            </a:r>
            <a:r>
              <a:rPr dirty="0" spc="-25"/>
              <a:t>91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420065"/>
            <a:ext cx="1762760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3264" y="1725295"/>
            <a:ext cx="9756775" cy="1198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>
              <a:lnSpc>
                <a:spcPts val="1895"/>
              </a:lnSpc>
              <a:tabLst>
                <a:tab pos="3749675" algn="l"/>
                <a:tab pos="7499350" algn="l"/>
              </a:tabLst>
            </a:pPr>
            <a:r>
              <a:rPr dirty="0" sz="2000" spc="-10" b="1">
                <a:solidFill>
                  <a:srgbClr val="1F3863"/>
                </a:solidFill>
                <a:latin typeface="Calibri"/>
                <a:cs typeface="Calibri"/>
              </a:rPr>
              <a:t>Dataset</a:t>
            </a:r>
            <a:r>
              <a:rPr dirty="0" sz="2000" b="1">
                <a:solidFill>
                  <a:srgbClr val="1F3863"/>
                </a:solidFill>
                <a:latin typeface="Calibri"/>
                <a:cs typeface="Calibri"/>
              </a:rPr>
              <a:t>	</a:t>
            </a:r>
            <a:r>
              <a:rPr dirty="0" sz="2000" spc="-10" b="1">
                <a:solidFill>
                  <a:srgbClr val="1F3863"/>
                </a:solidFill>
                <a:latin typeface="Calibri"/>
                <a:cs typeface="Calibri"/>
              </a:rPr>
              <a:t>Libraries</a:t>
            </a:r>
            <a:r>
              <a:rPr dirty="0" sz="2000" b="1">
                <a:solidFill>
                  <a:srgbClr val="1F3863"/>
                </a:solidFill>
                <a:latin typeface="Calibri"/>
                <a:cs typeface="Calibri"/>
              </a:rPr>
              <a:t>	</a:t>
            </a:r>
            <a:r>
              <a:rPr dirty="0" sz="2000" spc="-35" b="1">
                <a:solidFill>
                  <a:srgbClr val="1F3863"/>
                </a:solidFill>
                <a:latin typeface="Calibri"/>
                <a:cs typeface="Calibri"/>
              </a:rPr>
              <a:t>Team</a:t>
            </a:r>
            <a:r>
              <a:rPr dirty="0" sz="2000" spc="-8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1F3863"/>
                </a:solidFill>
                <a:latin typeface="Calibri"/>
                <a:cs typeface="Calibri"/>
              </a:rPr>
              <a:t>contribution</a:t>
            </a:r>
            <a:endParaRPr sz="200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1695"/>
              </a:spcBef>
              <a:tabLst>
                <a:tab pos="3749675" algn="l"/>
                <a:tab pos="7508875" algn="l"/>
              </a:tabLst>
            </a:pP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dataset.zip</a:t>
            </a:r>
            <a:r>
              <a:rPr dirty="0" sz="16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(JPG,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PDF,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PNG,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TXT,</a:t>
            </a:r>
            <a:r>
              <a:rPr dirty="0" sz="160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GIF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NumPy,</a:t>
            </a:r>
            <a:r>
              <a:rPr dirty="0" sz="16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scikit-learn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	Member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1:Chandan</a:t>
            </a:r>
            <a:r>
              <a:rPr dirty="0" sz="16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Kumar folders),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stored</a:t>
            </a:r>
            <a:r>
              <a:rPr dirty="0" sz="16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on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Google</a:t>
            </a:r>
            <a:r>
              <a:rPr dirty="0" sz="16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Drive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(RandomForestClassifier),</a:t>
            </a:r>
            <a:r>
              <a:rPr dirty="0" sz="1600" spc="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joblib,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	Member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2: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Nityaraj</a:t>
            </a:r>
            <a:r>
              <a:rPr dirty="0" sz="16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Rathod extracted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 in</a:t>
            </a:r>
            <a:r>
              <a:rPr dirty="0" sz="16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Google</a:t>
            </a:r>
            <a:r>
              <a:rPr dirty="0" sz="16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Calibri"/>
                <a:cs typeface="Calibri"/>
              </a:rPr>
              <a:t>Colab</a:t>
            </a:r>
            <a:r>
              <a:rPr dirty="0" sz="1600">
                <a:solidFill>
                  <a:srgbClr val="585858"/>
                </a:solidFill>
                <a:latin typeface="Calibri"/>
                <a:cs typeface="Calibri"/>
              </a:rPr>
              <a:t>	Matplotlib,</a:t>
            </a:r>
            <a:r>
              <a:rPr dirty="0" sz="1600" spc="-7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Calibri"/>
                <a:cs typeface="Calibri"/>
              </a:rPr>
              <a:t>Seaborn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06500"/>
            <a:ext cx="12192000" cy="5651500"/>
          </a:xfrm>
          <a:custGeom>
            <a:avLst/>
            <a:gdLst/>
            <a:ahLst/>
            <a:cxnLst/>
            <a:rect l="l" t="t" r="r" b="b"/>
            <a:pathLst>
              <a:path w="12192000" h="5651500">
                <a:moveTo>
                  <a:pt x="12192000" y="0"/>
                </a:moveTo>
                <a:lnTo>
                  <a:pt x="0" y="0"/>
                </a:lnTo>
                <a:lnTo>
                  <a:pt x="0" y="5651500"/>
                </a:lnTo>
                <a:lnTo>
                  <a:pt x="12192000" y="56515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46100" y="1371600"/>
            <a:ext cx="5435600" cy="1574800"/>
          </a:xfrm>
          <a:prstGeom prst="rect">
            <a:avLst/>
          </a:prstGeom>
          <a:solidFill>
            <a:srgbClr val="E9F0F9"/>
          </a:solidFill>
          <a:ln w="9525">
            <a:solidFill>
              <a:srgbClr val="D3DDED"/>
            </a:solidFill>
          </a:ln>
        </p:spPr>
        <p:txBody>
          <a:bodyPr wrap="square" lIns="0" tIns="635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endParaRPr sz="2000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</a:pPr>
            <a:r>
              <a:rPr dirty="0" sz="2000" spc="-10" b="1">
                <a:solidFill>
                  <a:srgbClr val="1F3864"/>
                </a:solidFill>
                <a:latin typeface="Calibri"/>
                <a:cs typeface="Calibri"/>
              </a:rPr>
              <a:t>Dataset</a:t>
            </a:r>
            <a:endParaRPr sz="2000">
              <a:latin typeface="Calibri"/>
              <a:cs typeface="Calibri"/>
            </a:endParaRPr>
          </a:p>
          <a:p>
            <a:pPr marL="279400" marR="589280">
              <a:lnSpc>
                <a:spcPct val="101600"/>
              </a:lnSpc>
              <a:spcBef>
                <a:spcPts val="1335"/>
              </a:spcBef>
            </a:pPr>
            <a:r>
              <a:rPr dirty="0" sz="1600">
                <a:solidFill>
                  <a:srgbClr val="595959"/>
                </a:solidFill>
                <a:latin typeface="Calibri"/>
                <a:cs typeface="Calibri"/>
              </a:rPr>
              <a:t>dataset.zip (JPG,</a:t>
            </a:r>
            <a:r>
              <a:rPr dirty="0" sz="16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95959"/>
                </a:solidFill>
                <a:latin typeface="Calibri"/>
                <a:cs typeface="Calibri"/>
              </a:rPr>
              <a:t>PDF,</a:t>
            </a:r>
            <a:r>
              <a:rPr dirty="0" sz="16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95959"/>
                </a:solidFill>
                <a:latin typeface="Calibri"/>
                <a:cs typeface="Calibri"/>
              </a:rPr>
              <a:t>PNG, TXT,</a:t>
            </a:r>
            <a:r>
              <a:rPr dirty="0" sz="16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95959"/>
                </a:solidFill>
                <a:latin typeface="Calibri"/>
                <a:cs typeface="Calibri"/>
              </a:rPr>
              <a:t>GIF</a:t>
            </a:r>
            <a:r>
              <a:rPr dirty="0" sz="16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95959"/>
                </a:solidFill>
                <a:latin typeface="Calibri"/>
                <a:cs typeface="Calibri"/>
              </a:rPr>
              <a:t>folders), stored</a:t>
            </a:r>
            <a:r>
              <a:rPr dirty="0" sz="16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Calibri"/>
                <a:cs typeface="Calibri"/>
              </a:rPr>
              <a:t>on </a:t>
            </a:r>
            <a:r>
              <a:rPr dirty="0" sz="1600">
                <a:solidFill>
                  <a:srgbClr val="595959"/>
                </a:solidFill>
                <a:latin typeface="Calibri"/>
                <a:cs typeface="Calibri"/>
              </a:rPr>
              <a:t>Google</a:t>
            </a:r>
            <a:r>
              <a:rPr dirty="0" sz="16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95959"/>
                </a:solidFill>
                <a:latin typeface="Calibri"/>
                <a:cs typeface="Calibri"/>
              </a:rPr>
              <a:t>Drive</a:t>
            </a:r>
            <a:r>
              <a:rPr dirty="0" sz="16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dirty="0" sz="16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95959"/>
                </a:solidFill>
                <a:latin typeface="Calibri"/>
                <a:cs typeface="Calibri"/>
              </a:rPr>
              <a:t>extracted</a:t>
            </a:r>
            <a:r>
              <a:rPr dirty="0" sz="16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dirty="0" sz="1600" spc="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595959"/>
                </a:solidFill>
                <a:latin typeface="Calibri"/>
                <a:cs typeface="Calibri"/>
              </a:rPr>
              <a:t>Google</a:t>
            </a:r>
            <a:r>
              <a:rPr dirty="0" sz="1600" spc="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Calibri"/>
                <a:cs typeface="Calibri"/>
              </a:rPr>
              <a:t>Colab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4900" y="1371600"/>
            <a:ext cx="5435600" cy="1574800"/>
          </a:xfrm>
          <a:prstGeom prst="rect">
            <a:avLst/>
          </a:prstGeom>
          <a:solidFill>
            <a:srgbClr val="E9F0F9"/>
          </a:solidFill>
          <a:ln w="9525">
            <a:solidFill>
              <a:srgbClr val="D3DDED"/>
            </a:solidFill>
          </a:ln>
        </p:spPr>
        <p:txBody>
          <a:bodyPr wrap="square" lIns="0" tIns="635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endParaRPr sz="2000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</a:pPr>
            <a:r>
              <a:rPr dirty="0" sz="2000" spc="-10" b="1">
                <a:solidFill>
                  <a:srgbClr val="1F3864"/>
                </a:solidFill>
                <a:latin typeface="Calibri"/>
                <a:cs typeface="Calibri"/>
              </a:rPr>
              <a:t>Libraries</a:t>
            </a:r>
            <a:endParaRPr sz="2000">
              <a:latin typeface="Calibri"/>
              <a:cs typeface="Calibri"/>
            </a:endParaRPr>
          </a:p>
          <a:p>
            <a:pPr marL="279400" marR="795020">
              <a:lnSpc>
                <a:spcPct val="101600"/>
              </a:lnSpc>
              <a:spcBef>
                <a:spcPts val="1335"/>
              </a:spcBef>
            </a:pPr>
            <a:r>
              <a:rPr dirty="0" sz="1600">
                <a:solidFill>
                  <a:srgbClr val="595959"/>
                </a:solidFill>
                <a:latin typeface="Calibri"/>
                <a:cs typeface="Calibri"/>
              </a:rPr>
              <a:t>NumPy, scikit-learn (RandomForestClassifier), </a:t>
            </a:r>
            <a:r>
              <a:rPr dirty="0" sz="1600" spc="-10">
                <a:solidFill>
                  <a:srgbClr val="595959"/>
                </a:solidFill>
                <a:latin typeface="Calibri"/>
                <a:cs typeface="Calibri"/>
              </a:rPr>
              <a:t>joblib, </a:t>
            </a:r>
            <a:r>
              <a:rPr dirty="0" sz="1600">
                <a:solidFill>
                  <a:srgbClr val="595959"/>
                </a:solidFill>
                <a:latin typeface="Calibri"/>
                <a:cs typeface="Calibri"/>
              </a:rPr>
              <a:t>Matplotlib, </a:t>
            </a:r>
            <a:r>
              <a:rPr dirty="0" sz="1600" spc="-10">
                <a:solidFill>
                  <a:srgbClr val="595959"/>
                </a:solidFill>
                <a:latin typeface="Calibri"/>
                <a:cs typeface="Calibri"/>
              </a:rPr>
              <a:t>Seaborn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41337" y="3144837"/>
            <a:ext cx="11083925" cy="3362325"/>
            <a:chOff x="541337" y="3144837"/>
            <a:chExt cx="11083925" cy="3362325"/>
          </a:xfrm>
        </p:grpSpPr>
        <p:sp>
          <p:nvSpPr>
            <p:cNvPr id="8" name="object 8"/>
            <p:cNvSpPr/>
            <p:nvPr/>
          </p:nvSpPr>
          <p:spPr>
            <a:xfrm>
              <a:off x="546100" y="3149600"/>
              <a:ext cx="11074400" cy="3352800"/>
            </a:xfrm>
            <a:custGeom>
              <a:avLst/>
              <a:gdLst/>
              <a:ahLst/>
              <a:cxnLst/>
              <a:rect l="l" t="t" r="r" b="b"/>
              <a:pathLst>
                <a:path w="11074400" h="3352800">
                  <a:moveTo>
                    <a:pt x="11074400" y="0"/>
                  </a:moveTo>
                  <a:lnTo>
                    <a:pt x="0" y="0"/>
                  </a:lnTo>
                  <a:lnTo>
                    <a:pt x="0" y="3352800"/>
                  </a:lnTo>
                  <a:lnTo>
                    <a:pt x="11074400" y="3352800"/>
                  </a:lnTo>
                  <a:lnTo>
                    <a:pt x="11074400" y="0"/>
                  </a:lnTo>
                  <a:close/>
                </a:path>
              </a:pathLst>
            </a:custGeom>
            <a:solidFill>
              <a:srgbClr val="E9F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6100" y="3149600"/>
              <a:ext cx="11074400" cy="3352800"/>
            </a:xfrm>
            <a:custGeom>
              <a:avLst/>
              <a:gdLst/>
              <a:ahLst/>
              <a:cxnLst/>
              <a:rect l="l" t="t" r="r" b="b"/>
              <a:pathLst>
                <a:path w="11074400" h="3352800">
                  <a:moveTo>
                    <a:pt x="0" y="3352800"/>
                  </a:moveTo>
                  <a:lnTo>
                    <a:pt x="11074400" y="3352800"/>
                  </a:lnTo>
                  <a:lnTo>
                    <a:pt x="11074400" y="0"/>
                  </a:lnTo>
                  <a:lnTo>
                    <a:pt x="0" y="0"/>
                  </a:lnTo>
                  <a:lnTo>
                    <a:pt x="0" y="3352800"/>
                  </a:lnTo>
                  <a:close/>
                </a:path>
                <a:path w="11074400" h="3352800">
                  <a:moveTo>
                    <a:pt x="279400" y="1219200"/>
                  </a:moveTo>
                  <a:lnTo>
                    <a:pt x="5105400" y="1219200"/>
                  </a:lnTo>
                </a:path>
              </a:pathLst>
            </a:custGeom>
            <a:ln w="9525">
              <a:solidFill>
                <a:srgbClr val="D3D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48360" y="4632959"/>
              <a:ext cx="55880" cy="1122680"/>
            </a:xfrm>
            <a:custGeom>
              <a:avLst/>
              <a:gdLst/>
              <a:ahLst/>
              <a:cxnLst/>
              <a:rect l="l" t="t" r="r" b="b"/>
              <a:pathLst>
                <a:path w="55880" h="1122679">
                  <a:moveTo>
                    <a:pt x="55880" y="1094740"/>
                  </a:moveTo>
                  <a:lnTo>
                    <a:pt x="53682" y="1083868"/>
                  </a:lnTo>
                  <a:lnTo>
                    <a:pt x="47688" y="1074991"/>
                  </a:lnTo>
                  <a:lnTo>
                    <a:pt x="38811" y="1068997"/>
                  </a:lnTo>
                  <a:lnTo>
                    <a:pt x="27940" y="1066800"/>
                  </a:lnTo>
                  <a:lnTo>
                    <a:pt x="17056" y="1068997"/>
                  </a:lnTo>
                  <a:lnTo>
                    <a:pt x="8178" y="1074991"/>
                  </a:lnTo>
                  <a:lnTo>
                    <a:pt x="2184" y="1083868"/>
                  </a:lnTo>
                  <a:lnTo>
                    <a:pt x="0" y="1094740"/>
                  </a:lnTo>
                  <a:lnTo>
                    <a:pt x="2184" y="1105623"/>
                  </a:lnTo>
                  <a:lnTo>
                    <a:pt x="8178" y="1114501"/>
                  </a:lnTo>
                  <a:lnTo>
                    <a:pt x="17056" y="1120495"/>
                  </a:lnTo>
                  <a:lnTo>
                    <a:pt x="27940" y="1122680"/>
                  </a:lnTo>
                  <a:lnTo>
                    <a:pt x="38811" y="1120495"/>
                  </a:lnTo>
                  <a:lnTo>
                    <a:pt x="47688" y="1114501"/>
                  </a:lnTo>
                  <a:lnTo>
                    <a:pt x="53682" y="1105623"/>
                  </a:lnTo>
                  <a:lnTo>
                    <a:pt x="55880" y="1094740"/>
                  </a:lnTo>
                  <a:close/>
                </a:path>
                <a:path w="55880" h="1122679">
                  <a:moveTo>
                    <a:pt x="55880" y="739140"/>
                  </a:moveTo>
                  <a:lnTo>
                    <a:pt x="53682" y="728268"/>
                  </a:lnTo>
                  <a:lnTo>
                    <a:pt x="47688" y="719391"/>
                  </a:lnTo>
                  <a:lnTo>
                    <a:pt x="38811" y="713397"/>
                  </a:lnTo>
                  <a:lnTo>
                    <a:pt x="27940" y="711200"/>
                  </a:lnTo>
                  <a:lnTo>
                    <a:pt x="17056" y="713397"/>
                  </a:lnTo>
                  <a:lnTo>
                    <a:pt x="8178" y="719391"/>
                  </a:lnTo>
                  <a:lnTo>
                    <a:pt x="2184" y="728268"/>
                  </a:lnTo>
                  <a:lnTo>
                    <a:pt x="0" y="739140"/>
                  </a:lnTo>
                  <a:lnTo>
                    <a:pt x="2184" y="750023"/>
                  </a:lnTo>
                  <a:lnTo>
                    <a:pt x="8178" y="758901"/>
                  </a:lnTo>
                  <a:lnTo>
                    <a:pt x="17056" y="764895"/>
                  </a:lnTo>
                  <a:lnTo>
                    <a:pt x="27940" y="767080"/>
                  </a:lnTo>
                  <a:lnTo>
                    <a:pt x="38811" y="764895"/>
                  </a:lnTo>
                  <a:lnTo>
                    <a:pt x="47688" y="758901"/>
                  </a:lnTo>
                  <a:lnTo>
                    <a:pt x="53682" y="750023"/>
                  </a:lnTo>
                  <a:lnTo>
                    <a:pt x="55880" y="739140"/>
                  </a:lnTo>
                  <a:close/>
                </a:path>
                <a:path w="55880" h="1122679">
                  <a:moveTo>
                    <a:pt x="55880" y="383540"/>
                  </a:moveTo>
                  <a:lnTo>
                    <a:pt x="53682" y="372668"/>
                  </a:lnTo>
                  <a:lnTo>
                    <a:pt x="47688" y="363791"/>
                  </a:lnTo>
                  <a:lnTo>
                    <a:pt x="38811" y="357797"/>
                  </a:lnTo>
                  <a:lnTo>
                    <a:pt x="27940" y="355600"/>
                  </a:lnTo>
                  <a:lnTo>
                    <a:pt x="17056" y="357797"/>
                  </a:lnTo>
                  <a:lnTo>
                    <a:pt x="8178" y="363791"/>
                  </a:lnTo>
                  <a:lnTo>
                    <a:pt x="2184" y="372668"/>
                  </a:lnTo>
                  <a:lnTo>
                    <a:pt x="0" y="383540"/>
                  </a:lnTo>
                  <a:lnTo>
                    <a:pt x="2184" y="394423"/>
                  </a:lnTo>
                  <a:lnTo>
                    <a:pt x="8178" y="403301"/>
                  </a:lnTo>
                  <a:lnTo>
                    <a:pt x="17056" y="409295"/>
                  </a:lnTo>
                  <a:lnTo>
                    <a:pt x="27940" y="411480"/>
                  </a:lnTo>
                  <a:lnTo>
                    <a:pt x="38811" y="409295"/>
                  </a:lnTo>
                  <a:lnTo>
                    <a:pt x="47688" y="403301"/>
                  </a:lnTo>
                  <a:lnTo>
                    <a:pt x="53682" y="394423"/>
                  </a:lnTo>
                  <a:lnTo>
                    <a:pt x="55880" y="383540"/>
                  </a:lnTo>
                  <a:close/>
                </a:path>
                <a:path w="55880" h="1122679">
                  <a:moveTo>
                    <a:pt x="55880" y="27940"/>
                  </a:moveTo>
                  <a:lnTo>
                    <a:pt x="53682" y="17068"/>
                  </a:lnTo>
                  <a:lnTo>
                    <a:pt x="47688" y="8191"/>
                  </a:lnTo>
                  <a:lnTo>
                    <a:pt x="38811" y="2197"/>
                  </a:lnTo>
                  <a:lnTo>
                    <a:pt x="27940" y="0"/>
                  </a:lnTo>
                  <a:lnTo>
                    <a:pt x="17056" y="2197"/>
                  </a:lnTo>
                  <a:lnTo>
                    <a:pt x="8178" y="8191"/>
                  </a:lnTo>
                  <a:lnTo>
                    <a:pt x="2184" y="17068"/>
                  </a:lnTo>
                  <a:lnTo>
                    <a:pt x="0" y="27940"/>
                  </a:lnTo>
                  <a:lnTo>
                    <a:pt x="2184" y="38823"/>
                  </a:lnTo>
                  <a:lnTo>
                    <a:pt x="8178" y="47701"/>
                  </a:lnTo>
                  <a:lnTo>
                    <a:pt x="17056" y="53695"/>
                  </a:lnTo>
                  <a:lnTo>
                    <a:pt x="27940" y="55880"/>
                  </a:lnTo>
                  <a:lnTo>
                    <a:pt x="38811" y="53695"/>
                  </a:lnTo>
                  <a:lnTo>
                    <a:pt x="47688" y="47701"/>
                  </a:lnTo>
                  <a:lnTo>
                    <a:pt x="53682" y="38823"/>
                  </a:lnTo>
                  <a:lnTo>
                    <a:pt x="55880" y="2794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25500" y="3392170"/>
            <a:ext cx="4697730" cy="2665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solidFill>
                  <a:srgbClr val="1F3864"/>
                </a:solidFill>
                <a:latin typeface="Calibri"/>
                <a:cs typeface="Calibri"/>
              </a:rPr>
              <a:t>Team</a:t>
            </a:r>
            <a:r>
              <a:rPr dirty="0" sz="2000" spc="-55" b="1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1F3864"/>
                </a:solidFill>
                <a:latin typeface="Calibri"/>
                <a:cs typeface="Calibri"/>
              </a:rPr>
              <a:t>contribution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700" b="1">
                <a:solidFill>
                  <a:srgbClr val="1F3864"/>
                </a:solidFill>
                <a:latin typeface="Calibri"/>
                <a:cs typeface="Calibri"/>
              </a:rPr>
              <a:t>Member</a:t>
            </a:r>
            <a:r>
              <a:rPr dirty="0" sz="1700" spc="-5" b="1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dirty="0" sz="1700" b="1">
                <a:solidFill>
                  <a:srgbClr val="1F3864"/>
                </a:solidFill>
                <a:latin typeface="Calibri"/>
                <a:cs typeface="Calibri"/>
              </a:rPr>
              <a:t>1:</a:t>
            </a:r>
            <a:r>
              <a:rPr dirty="0" sz="1700" spc="-5" b="1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dirty="0" sz="1700" b="1">
                <a:solidFill>
                  <a:srgbClr val="1F3864"/>
                </a:solidFill>
                <a:latin typeface="Calibri"/>
                <a:cs typeface="Calibri"/>
              </a:rPr>
              <a:t>Chandan</a:t>
            </a:r>
            <a:r>
              <a:rPr dirty="0" sz="1700" spc="-5" b="1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1F3864"/>
                </a:solidFill>
                <a:latin typeface="Calibri"/>
                <a:cs typeface="Calibri"/>
              </a:rPr>
              <a:t>Kumar</a:t>
            </a:r>
            <a:endParaRPr sz="1700">
              <a:latin typeface="Calibri"/>
              <a:cs typeface="Calibri"/>
            </a:endParaRPr>
          </a:p>
          <a:p>
            <a:pPr marL="203200" marR="1447165">
              <a:lnSpc>
                <a:spcPct val="155600"/>
              </a:lnSpc>
              <a:spcBef>
                <a:spcPts val="860"/>
              </a:spcBef>
            </a:pP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Machine</a:t>
            </a:r>
            <a:r>
              <a:rPr dirty="0" sz="1500" spc="-3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Learning</a:t>
            </a:r>
            <a:r>
              <a:rPr dirty="0" sz="1500" spc="-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r>
              <a:rPr dirty="0" sz="1500" spc="-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Calibri"/>
                <a:cs typeface="Calibri"/>
              </a:rPr>
              <a:t>development. Byte-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frequency</a:t>
            </a:r>
            <a:r>
              <a:rPr dirty="0" sz="1500" spc="-4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feature</a:t>
            </a:r>
            <a:r>
              <a:rPr dirty="0" sz="1500" spc="-4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Calibri"/>
                <a:cs typeface="Calibri"/>
              </a:rPr>
              <a:t>extraction.</a:t>
            </a:r>
            <a:endParaRPr sz="1500">
              <a:latin typeface="Calibri"/>
              <a:cs typeface="Calibri"/>
            </a:endParaRPr>
          </a:p>
          <a:p>
            <a:pPr marL="203200">
              <a:lnSpc>
                <a:spcPct val="100000"/>
              </a:lnSpc>
              <a:spcBef>
                <a:spcPts val="1000"/>
              </a:spcBef>
            </a:pP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Random</a:t>
            </a:r>
            <a:r>
              <a:rPr dirty="0" sz="1500" spc="-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Forest</a:t>
            </a:r>
            <a:r>
              <a:rPr dirty="0" sz="1500" spc="-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r>
              <a:rPr dirty="0" sz="15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dirty="0" sz="1500" spc="-1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dirty="0" sz="1500" spc="-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Calibri"/>
                <a:cs typeface="Calibri"/>
              </a:rPr>
              <a:t>testing.</a:t>
            </a:r>
            <a:endParaRPr sz="1500">
              <a:latin typeface="Calibri"/>
              <a:cs typeface="Calibri"/>
            </a:endParaRPr>
          </a:p>
          <a:p>
            <a:pPr marL="203200" marR="5080">
              <a:lnSpc>
                <a:spcPct val="100000"/>
              </a:lnSpc>
              <a:spcBef>
                <a:spcPts val="1000"/>
              </a:spcBef>
            </a:pP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r>
              <a:rPr dirty="0" sz="1500" spc="-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evaluation</a:t>
            </a:r>
            <a:r>
              <a:rPr dirty="0" sz="15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using</a:t>
            </a:r>
            <a:r>
              <a:rPr dirty="0" sz="15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accuracy,</a:t>
            </a:r>
            <a:r>
              <a:rPr dirty="0" sz="15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classification</a:t>
            </a:r>
            <a:r>
              <a:rPr dirty="0" sz="1500" spc="-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report</a:t>
            </a:r>
            <a:r>
              <a:rPr dirty="0" sz="1500" spc="-25">
                <a:solidFill>
                  <a:srgbClr val="595959"/>
                </a:solidFill>
                <a:latin typeface="Calibri"/>
                <a:cs typeface="Calibri"/>
              </a:rPr>
              <a:t> and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confusion</a:t>
            </a:r>
            <a:r>
              <a:rPr dirty="0" sz="1500" spc="-6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Calibri"/>
                <a:cs typeface="Calibri"/>
              </a:rPr>
              <a:t>matrix.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84900" y="4364037"/>
            <a:ext cx="4826000" cy="1391920"/>
            <a:chOff x="6184900" y="4364037"/>
            <a:chExt cx="4826000" cy="1391920"/>
          </a:xfrm>
        </p:grpSpPr>
        <p:sp>
          <p:nvSpPr>
            <p:cNvPr id="13" name="object 13"/>
            <p:cNvSpPr/>
            <p:nvPr/>
          </p:nvSpPr>
          <p:spPr>
            <a:xfrm>
              <a:off x="6184900" y="4368800"/>
              <a:ext cx="4826000" cy="0"/>
            </a:xfrm>
            <a:custGeom>
              <a:avLst/>
              <a:gdLst/>
              <a:ahLst/>
              <a:cxnLst/>
              <a:rect l="l" t="t" r="r" b="b"/>
              <a:pathLst>
                <a:path w="4826000" h="0">
                  <a:moveTo>
                    <a:pt x="0" y="0"/>
                  </a:moveTo>
                  <a:lnTo>
                    <a:pt x="4826000" y="0"/>
                  </a:lnTo>
                </a:path>
              </a:pathLst>
            </a:custGeom>
            <a:ln w="9525">
              <a:solidFill>
                <a:srgbClr val="D3D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207760" y="4632959"/>
              <a:ext cx="55880" cy="1122680"/>
            </a:xfrm>
            <a:custGeom>
              <a:avLst/>
              <a:gdLst/>
              <a:ahLst/>
              <a:cxnLst/>
              <a:rect l="l" t="t" r="r" b="b"/>
              <a:pathLst>
                <a:path w="55879" h="1122679">
                  <a:moveTo>
                    <a:pt x="55880" y="1094740"/>
                  </a:moveTo>
                  <a:lnTo>
                    <a:pt x="53682" y="1083868"/>
                  </a:lnTo>
                  <a:lnTo>
                    <a:pt x="47688" y="1074991"/>
                  </a:lnTo>
                  <a:lnTo>
                    <a:pt x="38811" y="1068997"/>
                  </a:lnTo>
                  <a:lnTo>
                    <a:pt x="27940" y="1066800"/>
                  </a:lnTo>
                  <a:lnTo>
                    <a:pt x="17056" y="1068997"/>
                  </a:lnTo>
                  <a:lnTo>
                    <a:pt x="8178" y="1074991"/>
                  </a:lnTo>
                  <a:lnTo>
                    <a:pt x="2184" y="1083868"/>
                  </a:lnTo>
                  <a:lnTo>
                    <a:pt x="0" y="1094740"/>
                  </a:lnTo>
                  <a:lnTo>
                    <a:pt x="2184" y="1105623"/>
                  </a:lnTo>
                  <a:lnTo>
                    <a:pt x="8178" y="1114501"/>
                  </a:lnTo>
                  <a:lnTo>
                    <a:pt x="17056" y="1120495"/>
                  </a:lnTo>
                  <a:lnTo>
                    <a:pt x="27940" y="1122680"/>
                  </a:lnTo>
                  <a:lnTo>
                    <a:pt x="38811" y="1120495"/>
                  </a:lnTo>
                  <a:lnTo>
                    <a:pt x="47688" y="1114501"/>
                  </a:lnTo>
                  <a:lnTo>
                    <a:pt x="53682" y="1105623"/>
                  </a:lnTo>
                  <a:lnTo>
                    <a:pt x="55880" y="1094740"/>
                  </a:lnTo>
                  <a:close/>
                </a:path>
                <a:path w="55879" h="1122679">
                  <a:moveTo>
                    <a:pt x="55880" y="739140"/>
                  </a:moveTo>
                  <a:lnTo>
                    <a:pt x="53682" y="728268"/>
                  </a:lnTo>
                  <a:lnTo>
                    <a:pt x="47688" y="719391"/>
                  </a:lnTo>
                  <a:lnTo>
                    <a:pt x="38811" y="713397"/>
                  </a:lnTo>
                  <a:lnTo>
                    <a:pt x="27940" y="711200"/>
                  </a:lnTo>
                  <a:lnTo>
                    <a:pt x="17056" y="713397"/>
                  </a:lnTo>
                  <a:lnTo>
                    <a:pt x="8178" y="719391"/>
                  </a:lnTo>
                  <a:lnTo>
                    <a:pt x="2184" y="728268"/>
                  </a:lnTo>
                  <a:lnTo>
                    <a:pt x="0" y="739140"/>
                  </a:lnTo>
                  <a:lnTo>
                    <a:pt x="2184" y="750023"/>
                  </a:lnTo>
                  <a:lnTo>
                    <a:pt x="8178" y="758901"/>
                  </a:lnTo>
                  <a:lnTo>
                    <a:pt x="17056" y="764895"/>
                  </a:lnTo>
                  <a:lnTo>
                    <a:pt x="27940" y="767080"/>
                  </a:lnTo>
                  <a:lnTo>
                    <a:pt x="38811" y="764895"/>
                  </a:lnTo>
                  <a:lnTo>
                    <a:pt x="47688" y="758901"/>
                  </a:lnTo>
                  <a:lnTo>
                    <a:pt x="53682" y="750023"/>
                  </a:lnTo>
                  <a:lnTo>
                    <a:pt x="55880" y="739140"/>
                  </a:lnTo>
                  <a:close/>
                </a:path>
                <a:path w="55879" h="1122679">
                  <a:moveTo>
                    <a:pt x="55880" y="383540"/>
                  </a:moveTo>
                  <a:lnTo>
                    <a:pt x="53682" y="372668"/>
                  </a:lnTo>
                  <a:lnTo>
                    <a:pt x="47688" y="363791"/>
                  </a:lnTo>
                  <a:lnTo>
                    <a:pt x="38811" y="357797"/>
                  </a:lnTo>
                  <a:lnTo>
                    <a:pt x="27940" y="355600"/>
                  </a:lnTo>
                  <a:lnTo>
                    <a:pt x="17056" y="357797"/>
                  </a:lnTo>
                  <a:lnTo>
                    <a:pt x="8178" y="363791"/>
                  </a:lnTo>
                  <a:lnTo>
                    <a:pt x="2184" y="372668"/>
                  </a:lnTo>
                  <a:lnTo>
                    <a:pt x="0" y="383540"/>
                  </a:lnTo>
                  <a:lnTo>
                    <a:pt x="2184" y="394423"/>
                  </a:lnTo>
                  <a:lnTo>
                    <a:pt x="8178" y="403301"/>
                  </a:lnTo>
                  <a:lnTo>
                    <a:pt x="17056" y="409295"/>
                  </a:lnTo>
                  <a:lnTo>
                    <a:pt x="27940" y="411480"/>
                  </a:lnTo>
                  <a:lnTo>
                    <a:pt x="38811" y="409295"/>
                  </a:lnTo>
                  <a:lnTo>
                    <a:pt x="47688" y="403301"/>
                  </a:lnTo>
                  <a:lnTo>
                    <a:pt x="53682" y="394423"/>
                  </a:lnTo>
                  <a:lnTo>
                    <a:pt x="55880" y="383540"/>
                  </a:lnTo>
                  <a:close/>
                </a:path>
                <a:path w="55879" h="1122679">
                  <a:moveTo>
                    <a:pt x="55880" y="27940"/>
                  </a:moveTo>
                  <a:lnTo>
                    <a:pt x="53682" y="17068"/>
                  </a:lnTo>
                  <a:lnTo>
                    <a:pt x="47688" y="8191"/>
                  </a:lnTo>
                  <a:lnTo>
                    <a:pt x="38811" y="2197"/>
                  </a:lnTo>
                  <a:lnTo>
                    <a:pt x="27940" y="0"/>
                  </a:lnTo>
                  <a:lnTo>
                    <a:pt x="17056" y="2197"/>
                  </a:lnTo>
                  <a:lnTo>
                    <a:pt x="8178" y="8191"/>
                  </a:lnTo>
                  <a:lnTo>
                    <a:pt x="2184" y="17068"/>
                  </a:lnTo>
                  <a:lnTo>
                    <a:pt x="0" y="27940"/>
                  </a:lnTo>
                  <a:lnTo>
                    <a:pt x="2184" y="38823"/>
                  </a:lnTo>
                  <a:lnTo>
                    <a:pt x="8178" y="47701"/>
                  </a:lnTo>
                  <a:lnTo>
                    <a:pt x="17056" y="53695"/>
                  </a:lnTo>
                  <a:lnTo>
                    <a:pt x="27940" y="55880"/>
                  </a:lnTo>
                  <a:lnTo>
                    <a:pt x="38811" y="53695"/>
                  </a:lnTo>
                  <a:lnTo>
                    <a:pt x="47688" y="47701"/>
                  </a:lnTo>
                  <a:lnTo>
                    <a:pt x="53682" y="38823"/>
                  </a:lnTo>
                  <a:lnTo>
                    <a:pt x="55880" y="2794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184900" y="4013200"/>
            <a:ext cx="3865879" cy="1816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1F3864"/>
                </a:solidFill>
                <a:latin typeface="Calibri"/>
                <a:cs typeface="Calibri"/>
              </a:rPr>
              <a:t>Member</a:t>
            </a:r>
            <a:r>
              <a:rPr dirty="0" sz="1700" spc="-5" b="1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dirty="0" sz="1700" b="1">
                <a:solidFill>
                  <a:srgbClr val="1F3864"/>
                </a:solidFill>
                <a:latin typeface="Calibri"/>
                <a:cs typeface="Calibri"/>
              </a:rPr>
              <a:t>2:</a:t>
            </a:r>
            <a:r>
              <a:rPr dirty="0" sz="1700" spc="-5" b="1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dirty="0" sz="1700" b="1">
                <a:solidFill>
                  <a:srgbClr val="1F3864"/>
                </a:solidFill>
                <a:latin typeface="Calibri"/>
                <a:cs typeface="Calibri"/>
              </a:rPr>
              <a:t>Nityaraj</a:t>
            </a:r>
            <a:r>
              <a:rPr dirty="0" sz="1700" spc="-5" b="1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1F3864"/>
                </a:solidFill>
                <a:latin typeface="Calibri"/>
                <a:cs typeface="Calibri"/>
              </a:rPr>
              <a:t>Rathod</a:t>
            </a:r>
            <a:endParaRPr sz="1700">
              <a:latin typeface="Calibri"/>
              <a:cs typeface="Calibri"/>
            </a:endParaRPr>
          </a:p>
          <a:p>
            <a:pPr marL="203200" marR="725170">
              <a:lnSpc>
                <a:spcPct val="155600"/>
              </a:lnSpc>
              <a:spcBef>
                <a:spcPts val="860"/>
              </a:spcBef>
            </a:pP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Frontend</a:t>
            </a:r>
            <a:r>
              <a:rPr dirty="0" sz="1500" spc="-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development</a:t>
            </a:r>
            <a:r>
              <a:rPr dirty="0" sz="15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dirty="0" sz="15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UI</a:t>
            </a:r>
            <a:r>
              <a:rPr dirty="0" sz="15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Calibri"/>
                <a:cs typeface="Calibri"/>
              </a:rPr>
              <a:t>design.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dirty="0" sz="1500" spc="-4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interface</a:t>
            </a:r>
            <a:r>
              <a:rPr dirty="0" sz="1500" spc="-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Calibri"/>
                <a:cs typeface="Calibri"/>
              </a:rPr>
              <a:t>implementation.</a:t>
            </a:r>
            <a:endParaRPr sz="1500">
              <a:latin typeface="Calibri"/>
              <a:cs typeface="Calibri"/>
            </a:endParaRPr>
          </a:p>
          <a:p>
            <a:pPr marL="203200">
              <a:lnSpc>
                <a:spcPct val="100000"/>
              </a:lnSpc>
              <a:spcBef>
                <a:spcPts val="1000"/>
              </a:spcBef>
            </a:pP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File</a:t>
            </a:r>
            <a:r>
              <a:rPr dirty="0" sz="15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upload</a:t>
            </a:r>
            <a:r>
              <a:rPr dirty="0" sz="1500" spc="-10">
                <a:solidFill>
                  <a:srgbClr val="595959"/>
                </a:solidFill>
                <a:latin typeface="Calibri"/>
                <a:cs typeface="Calibri"/>
              </a:rPr>
              <a:t> functionality.</a:t>
            </a:r>
            <a:endParaRPr sz="1500">
              <a:latin typeface="Calibri"/>
              <a:cs typeface="Calibri"/>
            </a:endParaRPr>
          </a:p>
          <a:p>
            <a:pPr marL="203200">
              <a:lnSpc>
                <a:spcPct val="100000"/>
              </a:lnSpc>
              <a:spcBef>
                <a:spcPts val="1000"/>
              </a:spcBef>
            </a:pP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Integration</a:t>
            </a:r>
            <a:r>
              <a:rPr dirty="0" sz="15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dirty="0" sz="15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dirty="0" sz="15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ML</a:t>
            </a:r>
            <a:r>
              <a:rPr dirty="0" sz="15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r>
              <a:rPr dirty="0" sz="1500" spc="-2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dirty="0" sz="15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dirty="0" sz="1500" spc="-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Calibri"/>
                <a:cs typeface="Calibri"/>
              </a:rPr>
              <a:t>frontend.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Chandan Kumar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25U020047</a:t>
            </a:r>
            <a:r>
              <a:rPr dirty="0" spc="225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APL Lab</a:t>
            </a:r>
            <a:r>
              <a:rPr dirty="0" spc="5"/>
              <a:t> </a:t>
            </a:r>
            <a:r>
              <a:rPr dirty="0"/>
              <a:t>(CSE-3006)</a:t>
            </a:r>
            <a:r>
              <a:rPr dirty="0" spc="220"/>
              <a:t> </a:t>
            </a:r>
            <a:r>
              <a:rPr dirty="0"/>
              <a:t>|</a:t>
            </a:r>
            <a:r>
              <a:rPr dirty="0" spc="220"/>
              <a:t> </a:t>
            </a:r>
            <a:r>
              <a:rPr dirty="0"/>
              <a:t>Group</a:t>
            </a:r>
            <a:r>
              <a:rPr dirty="0" spc="5"/>
              <a:t> </a:t>
            </a:r>
            <a:r>
              <a:rPr dirty="0" spc="-10"/>
              <a:t>Project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0">
                <a:latin typeface="Symbol"/>
                <a:cs typeface="Symbol"/>
              </a:rPr>
              <a:t>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/>
              <a:t>Back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Index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 </a:t>
            </a:r>
            <a:r>
              <a:rPr dirty="0"/>
              <a:t>91</a:t>
            </a:r>
            <a:r>
              <a:rPr dirty="0" spc="5"/>
              <a:t> </a:t>
            </a:r>
            <a:r>
              <a:rPr dirty="0"/>
              <a:t>of </a:t>
            </a:r>
            <a:r>
              <a:rPr dirty="0" spc="-25"/>
              <a:t>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2026-10-30T02:34:03Z</dcterms:created>
  <dcterms:modified xsi:type="dcterms:W3CDTF">2026-10-30T02:34:03Z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2026-10-30T00:00:00Z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2026-10-30T00:00:00Z</vt:filetime>
  </property>
</Properties>
</file>